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403" r:id="rId2"/>
    <p:sldId id="263" r:id="rId3"/>
    <p:sldId id="265" r:id="rId4"/>
    <p:sldId id="304" r:id="rId5"/>
    <p:sldId id="338" r:id="rId6"/>
    <p:sldId id="387" r:id="rId7"/>
    <p:sldId id="389" r:id="rId8"/>
    <p:sldId id="388" r:id="rId9"/>
    <p:sldId id="350" r:id="rId10"/>
    <p:sldId id="390" r:id="rId11"/>
    <p:sldId id="391" r:id="rId12"/>
    <p:sldId id="408" r:id="rId13"/>
    <p:sldId id="392" r:id="rId14"/>
    <p:sldId id="393" r:id="rId15"/>
    <p:sldId id="394" r:id="rId16"/>
    <p:sldId id="335" r:id="rId17"/>
    <p:sldId id="395" r:id="rId18"/>
    <p:sldId id="397" r:id="rId19"/>
    <p:sldId id="398" r:id="rId20"/>
    <p:sldId id="399" r:id="rId21"/>
    <p:sldId id="400" r:id="rId22"/>
    <p:sldId id="401" r:id="rId23"/>
    <p:sldId id="402" r:id="rId24"/>
    <p:sldId id="404" r:id="rId25"/>
    <p:sldId id="405" r:id="rId26"/>
    <p:sldId id="406" r:id="rId27"/>
    <p:sldId id="407" r:id="rId28"/>
    <p:sldId id="409" r:id="rId29"/>
    <p:sldId id="410" r:id="rId30"/>
    <p:sldId id="411" r:id="rId31"/>
    <p:sldId id="412" r:id="rId32"/>
    <p:sldId id="413" r:id="rId33"/>
    <p:sldId id="415" r:id="rId34"/>
    <p:sldId id="414" r:id="rId35"/>
    <p:sldId id="416" r:id="rId36"/>
    <p:sldId id="417" r:id="rId37"/>
    <p:sldId id="418" r:id="rId38"/>
    <p:sldId id="419" r:id="rId39"/>
    <p:sldId id="420" r:id="rId40"/>
    <p:sldId id="421" r:id="rId41"/>
    <p:sldId id="422" r:id="rId42"/>
    <p:sldId id="423" r:id="rId43"/>
    <p:sldId id="424" r:id="rId44"/>
    <p:sldId id="428" r:id="rId45"/>
    <p:sldId id="429" r:id="rId46"/>
    <p:sldId id="430" r:id="rId47"/>
    <p:sldId id="427" r:id="rId48"/>
    <p:sldId id="425" r:id="rId49"/>
    <p:sldId id="431" r:id="rId50"/>
    <p:sldId id="432" r:id="rId51"/>
    <p:sldId id="433" r:id="rId52"/>
    <p:sldId id="434" r:id="rId53"/>
    <p:sldId id="435" r:id="rId54"/>
    <p:sldId id="436" r:id="rId55"/>
    <p:sldId id="437" r:id="rId56"/>
    <p:sldId id="438" r:id="rId57"/>
    <p:sldId id="439" r:id="rId58"/>
    <p:sldId id="440" r:id="rId59"/>
    <p:sldId id="441" r:id="rId60"/>
    <p:sldId id="442" r:id="rId6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18E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9" autoAdjust="0"/>
    <p:restoredTop sz="98825" autoAdjust="0"/>
  </p:normalViewPr>
  <p:slideViewPr>
    <p:cSldViewPr>
      <p:cViewPr>
        <p:scale>
          <a:sx n="80" d="100"/>
          <a:sy n="80" d="100"/>
        </p:scale>
        <p:origin x="-2112" y="-864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62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FCBF1-0A88-49C7-8585-FF45B2F27CA4}" type="datetimeFigureOut">
              <a:rPr lang="ko-KR" altLang="en-US" smtClean="0"/>
              <a:pPr/>
              <a:t>2014-09-29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DFF00-2367-4D80-8FDD-8B3A0305FC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707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67D849F-76D1-4BD4-9A66-AF1D6B626BC5}" type="datetimeFigureOut">
              <a:rPr lang="ko-KR" altLang="en-US"/>
              <a:pPr>
                <a:defRPr/>
              </a:pPr>
              <a:t>2014-09-29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57E3777-3E1D-4ED9-9B15-9F8A52C916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6727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fld id="{6AFD1A8B-8F79-4A0B-AD11-68D988F369C1}" type="slidenum">
              <a:rPr kumimoji="0" lang="en-US" altLang="ko-KR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/>
              <a:t>0</a:t>
            </a:fld>
            <a:endParaRPr kumimoji="0" lang="en-US" altLang="ko-KR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3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1F9C1AFE-4F14-4B62-B985-0F480F26B427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4" name="Rectangle 7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59" tIns="45779" rIns="91559" bIns="45779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ADFAB777-EFB5-4069-A03D-4E560CFFC7B8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84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4588" y="685800"/>
            <a:ext cx="4575175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532" tIns="45765" rIns="91532" bIns="4576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ko-KR" altLang="en-US" smtClean="0"/>
              <a:t>상품개발본부표지서식</a:t>
            </a:r>
            <a:endParaRPr lang="ko-KR" altLang="ko-KR" smtClean="0"/>
          </a:p>
        </p:txBody>
      </p:sp>
      <p:sp>
        <p:nvSpPr>
          <p:cNvPr id="35847" name="슬라이드 번호 개체 틀 3"/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32" tIns="45765" rIns="91532" bIns="45765" anchor="b"/>
          <a:lstStyle>
            <a:lvl1pPr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915988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latinLnBrk="1" hangingPunct="1"/>
            <a:fld id="{2E15B637-F0D3-4CCB-8153-49796689FB68}" type="slidenum">
              <a:rPr kumimoji="0" lang="en-US" altLang="ko-KR" sz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1" latinLnBrk="1" hangingPunct="1"/>
              <a:t>0</a:t>
            </a:fld>
            <a:endParaRPr kumimoji="0" lang="en-US" altLang="ko-KR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49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57E3777-3E1D-4ED9-9B15-9F8A52C91677}" type="slidenum">
              <a:rPr lang="ko-KR" altLang="en-US" smtClean="0"/>
              <a:pPr>
                <a:defRPr/>
              </a:pPr>
              <a:t>59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4848" y="144463"/>
            <a:ext cx="8332182" cy="33178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74848" y="550260"/>
            <a:ext cx="8424863" cy="5616600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659EB-95CC-4708-8B5F-15CA2AA7529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266D0-155F-4766-81A8-C3828F4EFB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F4D0DC-3D30-423D-BAEC-E2ECB66950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2E4FD-45AD-4744-80F9-FDDF13857EE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7E65FC-8800-462A-8D0A-4F0144F10F1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64FAD-E177-4AAE-8087-CEC36DDD6F6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BA709-7016-4942-B775-8611432DAB1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01DC84-16C2-4884-B485-4EE00A66FFE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D9146-BC2D-417B-B5A0-75653E43505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23360-65D2-455A-8CAD-E8F5EFDEA0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AB69E-BC9C-4F09-92E0-A71FCA1602E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374650" y="144463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큰 제목 </a:t>
            </a:r>
            <a:r>
              <a:rPr lang="en-US" altLang="ko-KR" smtClean="0"/>
              <a:t>[</a:t>
            </a:r>
            <a:r>
              <a:rPr lang="ko-KR" altLang="en-US" smtClean="0"/>
              <a:t>맑은 고딕 </a:t>
            </a:r>
            <a:r>
              <a:rPr lang="en-US" altLang="ko-KR" smtClean="0"/>
              <a:t>bold, 14pt]</a:t>
            </a:r>
            <a:endParaRPr lang="ko-KR" altLang="en-US" smtClean="0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68313" y="549275"/>
            <a:ext cx="8197850" cy="550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14pt]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  <a:endParaRPr lang="ko-KR" altLang="en-US" dirty="0" smtClean="0"/>
          </a:p>
          <a:p>
            <a:pPr lvl="2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</a:p>
          <a:p>
            <a:pPr lvl="3"/>
            <a:r>
              <a:rPr lang="ko-KR" altLang="en-US" dirty="0" smtClean="0"/>
              <a:t>기본 문자열 </a:t>
            </a:r>
            <a:r>
              <a:rPr lang="en-US" altLang="ko-KR" dirty="0" smtClean="0"/>
              <a:t>[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12pt]</a:t>
            </a:r>
          </a:p>
          <a:p>
            <a:pPr lvl="4"/>
            <a:endParaRPr lang="en-US" altLang="ko-KR" dirty="0" smtClean="0"/>
          </a:p>
          <a:p>
            <a:pPr lvl="4"/>
            <a:endParaRPr lang="en-US" altLang="ko-KR" dirty="0" smtClean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305C502-E3B2-4D7E-A2DC-0F246071BDB4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352425" y="527050"/>
            <a:ext cx="8439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바닥글 개체 틀 3"/>
          <p:cNvSpPr txBox="1">
            <a:spLocks/>
          </p:cNvSpPr>
          <p:nvPr userDrawn="1"/>
        </p:nvSpPr>
        <p:spPr>
          <a:xfrm>
            <a:off x="428625" y="6415088"/>
            <a:ext cx="2559050" cy="238125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8" r:id="rId2"/>
    <p:sldLayoutId id="2147484129" r:id="rId3"/>
    <p:sldLayoutId id="2147484130" r:id="rId4"/>
    <p:sldLayoutId id="2147484131" r:id="rId5"/>
    <p:sldLayoutId id="2147484132" r:id="rId6"/>
    <p:sldLayoutId id="2147484133" r:id="rId7"/>
    <p:sldLayoutId id="2147484134" r:id="rId8"/>
    <p:sldLayoutId id="2147484135" r:id="rId9"/>
    <p:sldLayoutId id="2147484136" r:id="rId10"/>
    <p:sldLayoutId id="214748413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400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14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27013" indent="-22701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400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19100" indent="-18415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587375" indent="-12541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763588" indent="-1428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720725" algn="l"/>
        </a:tabLst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190625" indent="-117475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defRPr sz="1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1"/>
          <p:cNvSpPr>
            <a:spLocks noChangeArrowheads="1"/>
          </p:cNvSpPr>
          <p:nvPr/>
        </p:nvSpPr>
        <p:spPr bwMode="auto">
          <a:xfrm>
            <a:off x="3375137" y="2935468"/>
            <a:ext cx="2381027" cy="626701"/>
          </a:xfrm>
          <a:prstGeom prst="rect">
            <a:avLst/>
          </a:prstGeom>
          <a:noFill/>
          <a:ln w="9525" cap="rnd" algn="ctr">
            <a:noFill/>
            <a:prstDash val="sysDot"/>
            <a:miter lim="800000"/>
            <a:headEnd/>
            <a:tailEnd/>
          </a:ln>
          <a:effectLst/>
        </p:spPr>
        <p:txBody>
          <a:bodyPr wrap="none" lIns="36000" tIns="36000" rIns="36000" bIns="36000" anchor="ctr">
            <a:spAutoFit/>
          </a:bodyPr>
          <a:lstStyle/>
          <a:p>
            <a:pPr marL="457200" indent="-457200" algn="ctr">
              <a:defRPr/>
            </a:pPr>
            <a:r>
              <a:rPr lang="ko-KR" altLang="en-US" sz="3600" dirty="0"/>
              <a:t>개발가이드</a:t>
            </a:r>
            <a:endParaRPr kumimoji="0" lang="ko-KR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10" name="Rectangle 41"/>
          <p:cNvSpPr>
            <a:spLocks noChangeArrowheads="1"/>
          </p:cNvSpPr>
          <p:nvPr/>
        </p:nvSpPr>
        <p:spPr bwMode="auto">
          <a:xfrm>
            <a:off x="1692275" y="4792663"/>
            <a:ext cx="5583238" cy="1549400"/>
          </a:xfrm>
          <a:prstGeom prst="rect">
            <a:avLst/>
          </a:prstGeom>
          <a:noFill/>
          <a:ln w="9525" cap="rnd" algn="ctr">
            <a:noFill/>
            <a:prstDash val="sysDot"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/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en-US" altLang="ko-KR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  <a:p>
            <a:pPr marL="457200" indent="-457200" algn="ctr" eaLnBrk="1" latinLnBrk="1" hangingPunct="1">
              <a:defRPr/>
            </a:pPr>
            <a:endParaRPr kumimoji="0" lang="ko-KR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산돌고딕B" pitchFamily="18" charset="-127"/>
              <a:ea typeface="산돌고딕B" pitchFamily="18" charset="-127"/>
            </a:endParaRPr>
          </a:p>
        </p:txBody>
      </p:sp>
      <p:sp>
        <p:nvSpPr>
          <p:cNvPr id="13318" name="Freeform 977"/>
          <p:cNvSpPr>
            <a:spLocks/>
          </p:cNvSpPr>
          <p:nvPr/>
        </p:nvSpPr>
        <p:spPr bwMode="gray">
          <a:xfrm>
            <a:off x="0" y="2133600"/>
            <a:ext cx="9148763" cy="719138"/>
          </a:xfrm>
          <a:custGeom>
            <a:avLst/>
            <a:gdLst>
              <a:gd name="T0" fmla="*/ 2147483647 w 5780"/>
              <a:gd name="T1" fmla="*/ 2147483647 h 365"/>
              <a:gd name="T2" fmla="*/ 2147483647 w 5780"/>
              <a:gd name="T3" fmla="*/ 2147483647 h 365"/>
              <a:gd name="T4" fmla="*/ 0 w 5780"/>
              <a:gd name="T5" fmla="*/ 2147483647 h 365"/>
              <a:gd name="T6" fmla="*/ 2147483647 w 5780"/>
              <a:gd name="T7" fmla="*/ 2147483647 h 365"/>
              <a:gd name="T8" fmla="*/ 0 60000 65536"/>
              <a:gd name="T9" fmla="*/ 0 60000 65536"/>
              <a:gd name="T10" fmla="*/ 0 60000 65536"/>
              <a:gd name="T11" fmla="*/ 0 60000 65536"/>
              <a:gd name="T12" fmla="*/ 0 w 5780"/>
              <a:gd name="T13" fmla="*/ 0 h 365"/>
              <a:gd name="T14" fmla="*/ 5780 w 5780"/>
              <a:gd name="T15" fmla="*/ 365 h 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80" h="365">
                <a:moveTo>
                  <a:pt x="3001" y="12"/>
                </a:moveTo>
                <a:cubicBezTo>
                  <a:pt x="5072" y="24"/>
                  <a:pt x="5780" y="322"/>
                  <a:pt x="5777" y="342"/>
                </a:cubicBezTo>
                <a:lnTo>
                  <a:pt x="0" y="365"/>
                </a:lnTo>
                <a:cubicBezTo>
                  <a:pt x="295" y="258"/>
                  <a:pt x="930" y="0"/>
                  <a:pt x="3001" y="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9" name="그림 7" descr="SSSS.png"/>
          <p:cNvSpPr>
            <a:spLocks noChangeAspect="1"/>
          </p:cNvSpPr>
          <p:nvPr/>
        </p:nvSpPr>
        <p:spPr bwMode="auto">
          <a:xfrm>
            <a:off x="107950" y="44450"/>
            <a:ext cx="21240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latinLnBrk="1" hangingPunct="1"/>
            <a:endParaRPr lang="ko-KR" altLang="en-US">
              <a:solidFill>
                <a:srgbClr val="000000"/>
              </a:solidFill>
              <a:latin typeface="산돌고딕B" pitchFamily="18" charset="-127"/>
              <a:ea typeface="산돌고딕B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68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제목 1"/>
          <p:cNvSpPr>
            <a:spLocks noGrp="1"/>
          </p:cNvSpPr>
          <p:nvPr>
            <p:ph type="title"/>
          </p:nvPr>
        </p:nvSpPr>
        <p:spPr>
          <a:xfrm>
            <a:off x="271463" y="144463"/>
            <a:ext cx="8332787" cy="331787"/>
          </a:xfrm>
        </p:spPr>
        <p:txBody>
          <a:bodyPr/>
          <a:lstStyle/>
          <a:p>
            <a:r>
              <a:rPr lang="ko-KR" altLang="en-US" dirty="0" smtClean="0"/>
              <a:t>개정 이력</a:t>
            </a:r>
            <a:endParaRPr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418FFE2-B1E5-4936-97CA-F4EDE6DB4627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  <p:graphicFrame>
        <p:nvGraphicFramePr>
          <p:cNvPr id="6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13760"/>
              </p:ext>
            </p:extLst>
          </p:nvPr>
        </p:nvGraphicFramePr>
        <p:xfrm>
          <a:off x="395536" y="836712"/>
          <a:ext cx="8359526" cy="5307525"/>
        </p:xfrm>
        <a:graphic>
          <a:graphicData uri="http://schemas.openxmlformats.org/drawingml/2006/table">
            <a:tbl>
              <a:tblPr/>
              <a:tblGrid>
                <a:gridCol w="775113"/>
                <a:gridCol w="5633599"/>
                <a:gridCol w="1038227"/>
                <a:gridCol w="912587"/>
              </a:tblGrid>
              <a:tr h="282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버전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개정 내용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개정일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작성자</a:t>
                      </a: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506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Initial creation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014.04.14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정성만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2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666633"/>
                        </a:buClr>
                        <a:buSzPts val="6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1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418FFE2-B1E5-4936-97CA-F4EDE6DB4627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  <p:sp>
        <p:nvSpPr>
          <p:cNvPr id="15363" name="제목 1"/>
          <p:cNvSpPr>
            <a:spLocks noGrp="1"/>
          </p:cNvSpPr>
          <p:nvPr>
            <p:ph type="title"/>
          </p:nvPr>
        </p:nvSpPr>
        <p:spPr>
          <a:xfrm>
            <a:off x="271463" y="144463"/>
            <a:ext cx="8332787" cy="331787"/>
          </a:xfrm>
        </p:spPr>
        <p:txBody>
          <a:bodyPr/>
          <a:lstStyle/>
          <a:p>
            <a:r>
              <a:rPr dirty="0" smtClean="0"/>
              <a:t>목차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52488" y="1268413"/>
            <a:ext cx="7435850" cy="3933384"/>
          </a:xfrm>
        </p:spPr>
        <p:txBody>
          <a:bodyPr>
            <a:spAutoFit/>
          </a:bodyPr>
          <a:lstStyle/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ko-KR" altLang="en-US" sz="1600" dirty="0" err="1" smtClean="0">
                <a:latin typeface="+mn-ea"/>
                <a:ea typeface="+mn-ea"/>
              </a:rPr>
              <a:t>환경세</a:t>
            </a:r>
            <a:r>
              <a:rPr lang="ko-KR" altLang="en-US" sz="1600" dirty="0" err="1">
                <a:latin typeface="+mn-ea"/>
                <a:ea typeface="+mn-ea"/>
              </a:rPr>
              <a:t>팅</a:t>
            </a:r>
            <a:endParaRPr lang="ko-KR" altLang="en-US" sz="1600" dirty="0" smtClean="0">
              <a:latin typeface="+mn-ea"/>
              <a:ea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en-US" altLang="ko-KR" sz="1600" dirty="0" err="1" smtClean="0">
                <a:latin typeface="+mn-ea"/>
                <a:ea typeface="+mn-ea"/>
              </a:rPr>
              <a:t>Miplatform</a:t>
            </a:r>
            <a:r>
              <a:rPr lang="en-US" altLang="ko-KR" sz="1600" dirty="0" smtClean="0">
                <a:latin typeface="+mn-ea"/>
                <a:ea typeface="+mn-ea"/>
              </a:rPr>
              <a:t> </a:t>
            </a:r>
            <a:r>
              <a:rPr lang="ko-KR" altLang="en-US" sz="1600" dirty="0" smtClean="0">
                <a:latin typeface="+mn-ea"/>
                <a:ea typeface="+mn-ea"/>
              </a:rPr>
              <a:t>개발</a:t>
            </a:r>
            <a:endParaRPr lang="en-US" altLang="ko-KR" sz="1600" dirty="0" smtClean="0">
              <a:latin typeface="+mn-ea"/>
              <a:ea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서버</a:t>
            </a:r>
            <a:r>
              <a:rPr lang="en-US" altLang="ko-KR" sz="1600" dirty="0" smtClean="0">
                <a:latin typeface="+mn-ea"/>
              </a:rPr>
              <a:t>(</a:t>
            </a:r>
            <a:r>
              <a:rPr lang="en-US" altLang="ko-KR" sz="1600" dirty="0" err="1" smtClean="0">
                <a:latin typeface="+mn-ea"/>
              </a:rPr>
              <a:t>bussiness</a:t>
            </a:r>
            <a:r>
              <a:rPr lang="en-US" altLang="ko-KR" sz="1600" dirty="0" smtClean="0">
                <a:latin typeface="+mn-ea"/>
              </a:rPr>
              <a:t>)</a:t>
            </a:r>
            <a:r>
              <a:rPr lang="ko-KR" altLang="en-US" sz="1600" dirty="0" smtClean="0">
                <a:latin typeface="+mn-ea"/>
              </a:rPr>
              <a:t> 개발</a:t>
            </a:r>
            <a:endParaRPr lang="en-US" altLang="ko-KR" sz="1600" dirty="0" smtClean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en-US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권한관리</a:t>
            </a:r>
            <a:endParaRPr lang="en-US" altLang="ko-KR" sz="1600" dirty="0" smtClean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ko-KR" altLang="en-US" sz="1600" dirty="0" smtClean="0">
                <a:latin typeface="+mn-ea"/>
              </a:rPr>
              <a:t>게시판 만들기</a:t>
            </a:r>
            <a:endParaRPr lang="en-US" altLang="ko-KR" sz="1600" dirty="0" smtClean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파일</a:t>
            </a:r>
            <a:r>
              <a:rPr lang="en-US" altLang="ko-KR" sz="1600" dirty="0">
                <a:latin typeface="+mn-ea"/>
              </a:rPr>
              <a:t>_</a:t>
            </a:r>
            <a:r>
              <a:rPr lang="ko-KR" altLang="en-US" sz="1600" dirty="0">
                <a:latin typeface="+mn-ea"/>
              </a:rPr>
              <a:t>업로드</a:t>
            </a:r>
            <a:r>
              <a:rPr lang="en-US" altLang="ko-KR" sz="1600" dirty="0">
                <a:latin typeface="+mn-ea"/>
              </a:rPr>
              <a:t>_</a:t>
            </a:r>
            <a:r>
              <a:rPr lang="ko-KR" altLang="en-US" sz="1600" dirty="0" smtClean="0">
                <a:latin typeface="+mn-ea"/>
              </a:rPr>
              <a:t>다운로드구현</a:t>
            </a:r>
            <a:endParaRPr lang="en-US" altLang="ko-KR" sz="1600" dirty="0" smtClean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다국어 처리</a:t>
            </a:r>
            <a:endParaRPr lang="en-US" altLang="ko-KR" sz="1600" dirty="0" smtClean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r>
              <a:rPr lang="ko-KR" altLang="en-US" sz="1600" dirty="0" smtClean="0">
                <a:latin typeface="+mn-ea"/>
              </a:rPr>
              <a:t>기</a:t>
            </a:r>
            <a:r>
              <a:rPr lang="ko-KR" altLang="en-US" sz="1600" dirty="0">
                <a:latin typeface="+mn-ea"/>
              </a:rPr>
              <a:t>타</a:t>
            </a:r>
            <a:endParaRPr lang="en-US" altLang="ko-KR" sz="1600" dirty="0">
              <a:latin typeface="+mn-ea"/>
            </a:endParaRPr>
          </a:p>
          <a:p>
            <a:pPr marL="361950" indent="-271463">
              <a:lnSpc>
                <a:spcPct val="120000"/>
              </a:lnSpc>
              <a:spcBef>
                <a:spcPct val="60000"/>
              </a:spcBef>
              <a:buFont typeface="Wingdings" pitchFamily="2" charset="2"/>
              <a:buAutoNum type="romanUcPeriod"/>
              <a:defRPr/>
            </a:pPr>
            <a:endParaRPr lang="en-US" altLang="ko-KR" sz="1600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b="1" dirty="0" err="1" smtClean="0"/>
              <a:t>환경세팅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err="1" smtClean="0"/>
              <a:t>환경세팅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directory </a:t>
            </a:r>
            <a:r>
              <a:rPr kumimoji="0" lang="ko-KR" altLang="en-US" sz="1600" b="1" dirty="0" smtClean="0">
                <a:latin typeface="+mn-ea"/>
                <a:ea typeface="+mn-ea"/>
              </a:rPr>
              <a:t>구조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2736"/>
            <a:ext cx="399097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 bwMode="auto">
          <a:xfrm>
            <a:off x="2333925" y="3284984"/>
            <a:ext cx="5400601" cy="19257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err="1" smtClean="0"/>
              <a:t>톰캣</a:t>
            </a:r>
            <a:r>
              <a:rPr kumimoji="0" lang="ko-KR" altLang="en-US" sz="1050" dirty="0" smtClean="0"/>
              <a:t> 경로</a:t>
            </a:r>
          </a:p>
        </p:txBody>
      </p:sp>
      <p:sp>
        <p:nvSpPr>
          <p:cNvPr id="11" name="직사각형 10"/>
          <p:cNvSpPr/>
          <p:nvPr/>
        </p:nvSpPr>
        <p:spPr bwMode="auto">
          <a:xfrm>
            <a:off x="2339752" y="2276872"/>
            <a:ext cx="5400601" cy="19257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smtClean="0"/>
              <a:t>Eclipse</a:t>
            </a:r>
            <a:r>
              <a:rPr kumimoji="0" lang="ko-KR" altLang="en-US" sz="1050" dirty="0" smtClean="0"/>
              <a:t>설치된 경로</a:t>
            </a:r>
          </a:p>
        </p:txBody>
      </p:sp>
      <p:sp>
        <p:nvSpPr>
          <p:cNvPr id="12" name="직사각형 11"/>
          <p:cNvSpPr/>
          <p:nvPr/>
        </p:nvSpPr>
        <p:spPr bwMode="auto">
          <a:xfrm>
            <a:off x="2339752" y="2636570"/>
            <a:ext cx="5400601" cy="19257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Daliy</a:t>
            </a:r>
            <a:r>
              <a:rPr kumimoji="0" lang="ko-KR" altLang="en-US" sz="1050" dirty="0" smtClean="0"/>
              <a:t>로 </a:t>
            </a:r>
            <a:r>
              <a:rPr kumimoji="0" lang="en-US" altLang="ko-KR" sz="1050" dirty="0" smtClean="0"/>
              <a:t>log</a:t>
            </a:r>
            <a:r>
              <a:rPr kumimoji="0" lang="ko-KR" altLang="en-US" sz="1050" dirty="0" smtClean="0"/>
              <a:t>가 쌓이는 경로</a:t>
            </a:r>
          </a:p>
        </p:txBody>
      </p:sp>
      <p:sp>
        <p:nvSpPr>
          <p:cNvPr id="13" name="직사각형 12"/>
          <p:cNvSpPr/>
          <p:nvPr/>
        </p:nvSpPr>
        <p:spPr bwMode="auto">
          <a:xfrm>
            <a:off x="2342020" y="2829148"/>
            <a:ext cx="5400601" cy="31182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실제 </a:t>
            </a:r>
            <a:r>
              <a:rPr kumimoji="0" lang="en-US" altLang="ko-KR" sz="1050" dirty="0" smtClean="0"/>
              <a:t>java</a:t>
            </a:r>
            <a:r>
              <a:rPr kumimoji="0" lang="ko-KR" altLang="en-US" sz="1050" dirty="0" smtClean="0"/>
              <a:t>소스와 </a:t>
            </a:r>
            <a:r>
              <a:rPr kumimoji="0" lang="en-US" altLang="ko-KR" sz="1050" dirty="0" err="1" smtClean="0"/>
              <a:t>miplatform</a:t>
            </a:r>
            <a:r>
              <a:rPr kumimoji="0" lang="ko-KR" altLang="en-US" sz="1050" dirty="0" smtClean="0"/>
              <a:t>소스 경로</a:t>
            </a:r>
          </a:p>
        </p:txBody>
      </p:sp>
      <p:sp>
        <p:nvSpPr>
          <p:cNvPr id="14" name="직사각형 13"/>
          <p:cNvSpPr/>
          <p:nvPr/>
        </p:nvSpPr>
        <p:spPr bwMode="auto">
          <a:xfrm>
            <a:off x="1187624" y="1268413"/>
            <a:ext cx="5400601" cy="37881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경로는 </a:t>
            </a:r>
            <a:r>
              <a:rPr kumimoji="0" lang="en-US" altLang="ko-KR" sz="1050" dirty="0" smtClean="0"/>
              <a:t>c:\tata</a:t>
            </a:r>
            <a:r>
              <a:rPr kumimoji="0" lang="ko-KR" altLang="en-US" sz="1050" dirty="0" smtClean="0"/>
              <a:t>로 한다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err="1" smtClean="0"/>
              <a:t>환경세팅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directory </a:t>
            </a:r>
            <a:r>
              <a:rPr kumimoji="0" lang="ko-KR" altLang="en-US" sz="1600" b="1" dirty="0" smtClean="0">
                <a:latin typeface="+mn-ea"/>
                <a:ea typeface="+mn-ea"/>
              </a:rPr>
              <a:t>구조 </a:t>
            </a:r>
            <a:r>
              <a:rPr kumimoji="0" lang="en-US" altLang="ko-KR" sz="1600" b="1" dirty="0" smtClean="0">
                <a:latin typeface="+mn-ea"/>
                <a:ea typeface="+mn-ea"/>
              </a:rPr>
              <a:t>– source </a:t>
            </a:r>
            <a:r>
              <a:rPr kumimoji="0" lang="ko-KR" altLang="en-US" sz="1600" b="1" dirty="0" smtClean="0">
                <a:latin typeface="+mn-ea"/>
                <a:ea typeface="+mn-ea"/>
              </a:rPr>
              <a:t>폴더 구조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78" y="1340768"/>
            <a:ext cx="4629150" cy="4648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/>
          <p:cNvSpPr/>
          <p:nvPr/>
        </p:nvSpPr>
        <p:spPr bwMode="auto">
          <a:xfrm>
            <a:off x="1043608" y="1479322"/>
            <a:ext cx="7056784" cy="37881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smtClean="0"/>
              <a:t>Project </a:t>
            </a:r>
            <a:r>
              <a:rPr kumimoji="0" lang="ko-KR" altLang="en-US" sz="1050" dirty="0" err="1" smtClean="0"/>
              <a:t>폴더명</a:t>
            </a:r>
            <a:endParaRPr kumimoji="0" lang="ko-KR" altLang="en-US" sz="1050" dirty="0" smtClean="0"/>
          </a:p>
        </p:txBody>
      </p:sp>
      <p:sp>
        <p:nvSpPr>
          <p:cNvPr id="16" name="직사각형 15"/>
          <p:cNvSpPr/>
          <p:nvPr/>
        </p:nvSpPr>
        <p:spPr bwMode="auto">
          <a:xfrm>
            <a:off x="2087216" y="2564903"/>
            <a:ext cx="7056784" cy="28152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smtClean="0"/>
              <a:t>Common</a:t>
            </a:r>
            <a:r>
              <a:rPr kumimoji="0" lang="ko-KR" altLang="en-US" sz="1050" dirty="0" smtClean="0"/>
              <a:t>폴더로 시스템관리영역 </a:t>
            </a:r>
            <a:r>
              <a:rPr kumimoji="0" lang="en-US" altLang="ko-KR" sz="1050" dirty="0" smtClean="0"/>
              <a:t>java</a:t>
            </a:r>
            <a:r>
              <a:rPr kumimoji="0" lang="ko-KR" altLang="en-US" sz="1050" dirty="0" smtClean="0"/>
              <a:t>소스 폴더</a:t>
            </a:r>
          </a:p>
        </p:txBody>
      </p:sp>
      <p:sp>
        <p:nvSpPr>
          <p:cNvPr id="17" name="직사각형 16"/>
          <p:cNvSpPr/>
          <p:nvPr/>
        </p:nvSpPr>
        <p:spPr bwMode="auto">
          <a:xfrm>
            <a:off x="2087216" y="2839426"/>
            <a:ext cx="7056784" cy="18940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개발자가 자유롭게 문서를 쓰고 </a:t>
            </a:r>
            <a:r>
              <a:rPr kumimoji="0" lang="ko-KR" altLang="en-US" sz="1050" dirty="0" err="1" smtClean="0"/>
              <a:t>읽고하는</a:t>
            </a:r>
            <a:r>
              <a:rPr kumimoji="0" lang="ko-KR" altLang="en-US" sz="1050" dirty="0" smtClean="0"/>
              <a:t> 폴더</a:t>
            </a:r>
          </a:p>
        </p:txBody>
      </p:sp>
      <p:sp>
        <p:nvSpPr>
          <p:cNvPr id="18" name="직사각형 17"/>
          <p:cNvSpPr/>
          <p:nvPr/>
        </p:nvSpPr>
        <p:spPr bwMode="auto">
          <a:xfrm>
            <a:off x="2091531" y="3004024"/>
            <a:ext cx="7056784" cy="28096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실제 비즈니스 업무 </a:t>
            </a:r>
            <a:r>
              <a:rPr kumimoji="0" lang="en-US" altLang="ko-KR" sz="1050" dirty="0" smtClean="0"/>
              <a:t>java</a:t>
            </a:r>
            <a:r>
              <a:rPr kumimoji="0" lang="ko-KR" altLang="en-US" sz="1050" dirty="0" smtClean="0"/>
              <a:t>소스 폴더</a:t>
            </a:r>
          </a:p>
        </p:txBody>
      </p:sp>
      <p:sp>
        <p:nvSpPr>
          <p:cNvPr id="19" name="직사각형 18"/>
          <p:cNvSpPr/>
          <p:nvPr/>
        </p:nvSpPr>
        <p:spPr bwMode="auto">
          <a:xfrm>
            <a:off x="2091531" y="3284984"/>
            <a:ext cx="7056784" cy="28096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실제 </a:t>
            </a:r>
            <a:r>
              <a:rPr kumimoji="0" lang="ko-KR" altLang="en-US" sz="1050" dirty="0" err="1" smtClean="0"/>
              <a:t>화면단</a:t>
            </a:r>
            <a:r>
              <a:rPr kumimoji="0" lang="en-US" altLang="ko-KR" sz="1050" dirty="0" smtClean="0"/>
              <a:t>(</a:t>
            </a:r>
            <a:r>
              <a:rPr kumimoji="0" lang="en-US" altLang="ko-KR" sz="1050" dirty="0" err="1" smtClean="0"/>
              <a:t>miplatform</a:t>
            </a:r>
            <a:r>
              <a:rPr kumimoji="0" lang="en-US" altLang="ko-KR" sz="1050" dirty="0" smtClean="0"/>
              <a:t>)</a:t>
            </a:r>
            <a:r>
              <a:rPr kumimoji="0" lang="ko-KR" altLang="en-US" sz="1050" dirty="0" smtClean="0"/>
              <a:t> </a:t>
            </a:r>
            <a:r>
              <a:rPr kumimoji="0" lang="en-US" altLang="ko-KR" sz="1050" dirty="0" smtClean="0"/>
              <a:t>xml</a:t>
            </a:r>
            <a:r>
              <a:rPr kumimoji="0" lang="ko-KR" altLang="en-US" sz="1050" dirty="0" smtClean="0"/>
              <a:t>소스 폴더</a:t>
            </a:r>
          </a:p>
        </p:txBody>
      </p:sp>
    </p:spTree>
    <p:extLst>
      <p:ext uri="{BB962C8B-B14F-4D97-AF65-F5344CB8AC3E}">
        <p14:creationId xmlns:p14="http://schemas.microsoft.com/office/powerpoint/2010/main" val="40017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 smtClean="0"/>
              <a:t>Ⅰ.  </a:t>
            </a:r>
            <a:r>
              <a:rPr lang="ko-KR" altLang="en-US" dirty="0" err="1" smtClean="0"/>
              <a:t>환경세팅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sp>
        <p:nvSpPr>
          <p:cNvPr id="5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directory </a:t>
            </a:r>
            <a:r>
              <a:rPr kumimoji="0" lang="ko-KR" altLang="en-US" sz="1600" b="1" dirty="0" smtClean="0">
                <a:latin typeface="+mn-ea"/>
                <a:ea typeface="+mn-ea"/>
              </a:rPr>
              <a:t>구조 </a:t>
            </a:r>
            <a:r>
              <a:rPr kumimoji="0" lang="en-US" altLang="ko-KR" sz="1600" b="1" dirty="0" smtClean="0">
                <a:latin typeface="+mn-ea"/>
                <a:ea typeface="+mn-ea"/>
              </a:rPr>
              <a:t>–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화면</a:t>
            </a:r>
            <a:r>
              <a:rPr kumimoji="0" lang="ko-KR" altLang="en-US" sz="1600" b="1" dirty="0" err="1">
                <a:latin typeface="+mn-ea"/>
                <a:ea typeface="+mn-ea"/>
              </a:rPr>
              <a:t>단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폴더 구조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124744"/>
            <a:ext cx="536257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/>
        </p:nvSpPr>
        <p:spPr bwMode="auto">
          <a:xfrm>
            <a:off x="1032496" y="1289916"/>
            <a:ext cx="705678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Wvan-gui</a:t>
            </a:r>
            <a:r>
              <a:rPr kumimoji="0" lang="en-US" altLang="ko-KR" sz="1050" dirty="0"/>
              <a:t> </a:t>
            </a:r>
            <a:r>
              <a:rPr kumimoji="0" lang="ko-KR" altLang="en-US" sz="1050" dirty="0" err="1" smtClean="0"/>
              <a:t>화면단</a:t>
            </a:r>
            <a:r>
              <a:rPr kumimoji="0" lang="en-US" altLang="ko-KR" sz="1050" dirty="0" smtClean="0"/>
              <a:t> </a:t>
            </a:r>
            <a:r>
              <a:rPr kumimoji="0" lang="ko-KR" altLang="en-US" sz="1050" dirty="0" err="1" smtClean="0"/>
              <a:t>폴더명</a:t>
            </a: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 bwMode="auto">
          <a:xfrm>
            <a:off x="2087216" y="3356992"/>
            <a:ext cx="7056784" cy="482899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smtClean="0"/>
              <a:t>Explore</a:t>
            </a:r>
            <a:r>
              <a:rPr kumimoji="0" lang="ko-KR" altLang="en-US" sz="1050" dirty="0" smtClean="0"/>
              <a:t>에서 </a:t>
            </a:r>
            <a:r>
              <a:rPr kumimoji="0" lang="en-US" altLang="ko-KR" sz="1050" dirty="0" err="1" smtClean="0"/>
              <a:t>Miplatform</a:t>
            </a:r>
            <a:r>
              <a:rPr kumimoji="0" lang="ko-KR" altLang="en-US" sz="1050" dirty="0" smtClean="0"/>
              <a:t>을 </a:t>
            </a:r>
            <a:r>
              <a:rPr kumimoji="0" lang="en-US" altLang="ko-KR" sz="1050" dirty="0" smtClean="0"/>
              <a:t>embedded</a:t>
            </a:r>
            <a:r>
              <a:rPr kumimoji="0" lang="ko-KR" altLang="en-US" sz="1050" dirty="0" smtClean="0"/>
              <a:t>하는 소스</a:t>
            </a:r>
          </a:p>
        </p:txBody>
      </p:sp>
      <p:sp>
        <p:nvSpPr>
          <p:cNvPr id="20" name="직사각형 19"/>
          <p:cNvSpPr/>
          <p:nvPr/>
        </p:nvSpPr>
        <p:spPr bwMode="auto">
          <a:xfrm>
            <a:off x="2087216" y="3115542"/>
            <a:ext cx="7056784" cy="2414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Miplatform</a:t>
            </a:r>
            <a:r>
              <a:rPr kumimoji="0" lang="en-US" altLang="ko-KR" sz="1050" dirty="0" smtClean="0"/>
              <a:t> </a:t>
            </a:r>
            <a:r>
              <a:rPr kumimoji="0" lang="ko-KR" altLang="en-US" sz="1050" dirty="0" err="1" smtClean="0"/>
              <a:t>에물레이터가</a:t>
            </a:r>
            <a:r>
              <a:rPr kumimoji="0" lang="ko-KR" altLang="en-US" sz="1050" dirty="0" smtClean="0"/>
              <a:t> 시작되는 소스</a:t>
            </a:r>
          </a:p>
        </p:txBody>
      </p:sp>
      <p:sp>
        <p:nvSpPr>
          <p:cNvPr id="21" name="직사각형 20"/>
          <p:cNvSpPr/>
          <p:nvPr/>
        </p:nvSpPr>
        <p:spPr bwMode="auto">
          <a:xfrm>
            <a:off x="2070491" y="2456933"/>
            <a:ext cx="7056784" cy="2414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공통 </a:t>
            </a:r>
            <a:r>
              <a:rPr kumimoji="0" lang="en-US" altLang="ko-KR" sz="1050" dirty="0" err="1" smtClean="0"/>
              <a:t>js</a:t>
            </a:r>
            <a:r>
              <a:rPr kumimoji="0" lang="ko-KR" altLang="en-US" sz="1050" dirty="0" smtClean="0"/>
              <a:t>폴더</a:t>
            </a:r>
          </a:p>
        </p:txBody>
      </p:sp>
      <p:sp>
        <p:nvSpPr>
          <p:cNvPr id="22" name="직사각형 21"/>
          <p:cNvSpPr/>
          <p:nvPr/>
        </p:nvSpPr>
        <p:spPr bwMode="auto">
          <a:xfrm>
            <a:off x="2070491" y="2716211"/>
            <a:ext cx="7056784" cy="24145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실제업무 그룹 화면 폴더</a:t>
            </a:r>
          </a:p>
        </p:txBody>
      </p:sp>
    </p:spTree>
    <p:extLst>
      <p:ext uri="{BB962C8B-B14F-4D97-AF65-F5344CB8AC3E}">
        <p14:creationId xmlns:p14="http://schemas.microsoft.com/office/powerpoint/2010/main" val="223786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en-US" altLang="ko-KR" sz="3600" dirty="0">
                <a:latin typeface="+mn-ea"/>
              </a:rPr>
              <a:t>Miplatform </a:t>
            </a:r>
            <a:r>
              <a:rPr lang="ko-KR" altLang="en-US" sz="3600" dirty="0">
                <a:latin typeface="+mn-ea"/>
              </a:rPr>
              <a:t>개발</a:t>
            </a:r>
            <a:r>
              <a:rPr lang="en-US" altLang="ko-KR" sz="3600" dirty="0">
                <a:latin typeface="+mn-ea"/>
              </a:rPr>
              <a:t/>
            </a:r>
            <a:br>
              <a:rPr lang="en-US" altLang="ko-KR" sz="3600" dirty="0">
                <a:latin typeface="+mn-ea"/>
              </a:rPr>
            </a:b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01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실제로 만들어 가며 설명하겠음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화면파일 </a:t>
            </a:r>
            <a:r>
              <a:rPr kumimoji="0" lang="en-US" altLang="ko-KR" sz="1600" b="1" dirty="0" smtClean="0">
                <a:latin typeface="+mn-ea"/>
                <a:ea typeface="+mn-ea"/>
              </a:rPr>
              <a:t>: test1.xml , test1.js 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5695950" cy="478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 bwMode="auto">
          <a:xfrm>
            <a:off x="1125979" y="1400512"/>
            <a:ext cx="705678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SsSys</a:t>
            </a:r>
            <a:r>
              <a:rPr kumimoji="0" lang="ko-KR" altLang="en-US" sz="1050" dirty="0" smtClean="0"/>
              <a:t>는 개발 그룹 </a:t>
            </a:r>
            <a:r>
              <a:rPr kumimoji="0" lang="ko-KR" altLang="en-US" sz="1050" dirty="0" err="1" smtClean="0"/>
              <a:t>폴더명</a:t>
            </a: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 bwMode="auto">
          <a:xfrm>
            <a:off x="2195736" y="4509120"/>
            <a:ext cx="705678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파일을 </a:t>
            </a:r>
            <a:r>
              <a:rPr kumimoji="0" lang="en-US" altLang="ko-KR" sz="1050" dirty="0"/>
              <a:t> </a:t>
            </a:r>
            <a:r>
              <a:rPr kumimoji="0" lang="en-US" altLang="ko-KR" sz="1050" dirty="0" smtClean="0"/>
              <a:t>copy &amp; </a:t>
            </a:r>
            <a:r>
              <a:rPr kumimoji="0" lang="en-US" altLang="ko-KR" sz="1050" dirty="0" err="1" smtClean="0"/>
              <a:t>patse</a:t>
            </a:r>
            <a:r>
              <a:rPr kumimoji="0" lang="ko-KR" altLang="en-US" sz="1050" dirty="0" smtClean="0"/>
              <a:t>로 만들어준다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Test1.xml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파일에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체크한부분의</a:t>
            </a:r>
            <a:r>
              <a:rPr kumimoji="0" lang="ko-KR" altLang="en-US" sz="1600" b="1" dirty="0" smtClean="0">
                <a:latin typeface="+mn-ea"/>
                <a:ea typeface="+mn-ea"/>
              </a:rPr>
              <a:t> 이름을 </a:t>
            </a:r>
            <a:r>
              <a:rPr kumimoji="0" lang="en-US" altLang="ko-KR" sz="1600" b="1" dirty="0" smtClean="0">
                <a:latin typeface="+mn-ea"/>
                <a:ea typeface="+mn-ea"/>
              </a:rPr>
              <a:t>test1.js</a:t>
            </a:r>
            <a:r>
              <a:rPr kumimoji="0" lang="ko-KR" altLang="en-US" sz="1600" b="1" dirty="0" smtClean="0">
                <a:latin typeface="+mn-ea"/>
                <a:ea typeface="+mn-ea"/>
              </a:rPr>
              <a:t>로 바꿔준다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124744"/>
            <a:ext cx="7934325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251520" y="1556792"/>
            <a:ext cx="381642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288662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마이플랫폼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개발툴인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PID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열고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아까만든파일인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test1</a:t>
            </a:r>
            <a:r>
              <a:rPr kumimoji="0" lang="ko-KR" altLang="en-US" sz="1600" b="1" dirty="0" smtClean="0">
                <a:latin typeface="+mn-ea"/>
                <a:ea typeface="+mn-ea"/>
              </a:rPr>
              <a:t>선택하고 가장기본적인 </a:t>
            </a:r>
            <a:r>
              <a:rPr kumimoji="0" lang="en-US" altLang="ko-KR" sz="1600" b="1" dirty="0" smtClean="0">
                <a:latin typeface="+mn-ea"/>
                <a:ea typeface="+mn-ea"/>
              </a:rPr>
              <a:t>form</a:t>
            </a:r>
            <a:r>
              <a:rPr kumimoji="0" lang="ko-KR" altLang="en-US" sz="1600" b="1" dirty="0" smtClean="0">
                <a:latin typeface="+mn-ea"/>
                <a:ea typeface="+mn-ea"/>
              </a:rPr>
              <a:t>의 이름을 파일명과 동일하게 </a:t>
            </a:r>
            <a:r>
              <a:rPr kumimoji="0" lang="en-US" altLang="ko-KR" sz="1600" b="1" dirty="0" smtClean="0">
                <a:latin typeface="+mn-ea"/>
                <a:ea typeface="+mn-ea"/>
              </a:rPr>
              <a:t>test1</a:t>
            </a:r>
            <a:r>
              <a:rPr kumimoji="0" lang="ko-KR" altLang="en-US" sz="1600" b="1" dirty="0" smtClean="0">
                <a:latin typeface="+mn-ea"/>
                <a:ea typeface="+mn-ea"/>
              </a:rPr>
              <a:t>으로 맞춰준다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 &lt;- </a:t>
            </a:r>
            <a:r>
              <a:rPr kumimoji="0" lang="ko-KR" altLang="en-US" sz="1600" b="1" dirty="0" smtClean="0">
                <a:latin typeface="+mn-ea"/>
                <a:ea typeface="+mn-ea"/>
              </a:rPr>
              <a:t>개발기준가이드</a:t>
            </a:r>
            <a:r>
              <a:rPr kumimoji="0" lang="ko-KR" altLang="en-US" sz="1600" b="1" dirty="0">
                <a:latin typeface="+mn-ea"/>
                <a:ea typeface="+mn-ea"/>
              </a:rPr>
              <a:t>임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599" y="1556792"/>
            <a:ext cx="6162675" cy="4730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393568" y="5229200"/>
            <a:ext cx="381642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386907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8640960" cy="593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0" y="5805264"/>
            <a:ext cx="7390050" cy="144016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b="1" dirty="0" smtClean="0">
              <a:solidFill>
                <a:srgbClr val="FF0000"/>
              </a:solidFill>
            </a:endParaRPr>
          </a:p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b="1" dirty="0" err="1" smtClean="0">
                <a:solidFill>
                  <a:srgbClr val="FF0000"/>
                </a:solidFill>
              </a:rPr>
              <a:t>이부분이</a:t>
            </a:r>
            <a:r>
              <a:rPr kumimoji="0" lang="ko-KR" altLang="en-US" b="1" dirty="0" smtClean="0">
                <a:solidFill>
                  <a:srgbClr val="FF0000"/>
                </a:solidFill>
              </a:rPr>
              <a:t> 화면이 </a:t>
            </a:r>
            <a:r>
              <a:rPr kumimoji="0" lang="ko-KR" altLang="en-US" b="1" dirty="0" err="1" smtClean="0">
                <a:solidFill>
                  <a:srgbClr val="FF0000"/>
                </a:solidFill>
              </a:rPr>
              <a:t>최초진입시</a:t>
            </a:r>
            <a:r>
              <a:rPr kumimoji="0" lang="ko-KR" altLang="en-US" b="1" dirty="0" smtClean="0">
                <a:solidFill>
                  <a:srgbClr val="FF0000"/>
                </a:solidFill>
              </a:rPr>
              <a:t> 실행되는 함수이다</a:t>
            </a:r>
            <a:r>
              <a:rPr kumimoji="0"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b="1" dirty="0" smtClean="0">
                <a:solidFill>
                  <a:srgbClr val="FF0000"/>
                </a:solidFill>
              </a:rPr>
              <a:t> </a:t>
            </a:r>
            <a:r>
              <a:rPr kumimoji="0" lang="ko-KR" altLang="en-US" b="1" dirty="0" smtClean="0">
                <a:solidFill>
                  <a:srgbClr val="FF0000"/>
                </a:solidFill>
              </a:rPr>
              <a:t>이곳에 </a:t>
            </a:r>
            <a:r>
              <a:rPr kumimoji="0" lang="en-US" altLang="ko-KR" b="1" dirty="0" err="1" smtClean="0">
                <a:solidFill>
                  <a:srgbClr val="FF0000"/>
                </a:solidFill>
              </a:rPr>
              <a:t>OnLoadCompleated</a:t>
            </a:r>
            <a:r>
              <a:rPr kumimoji="0" lang="en-US" altLang="ko-KR" b="1" dirty="0" smtClean="0">
                <a:solidFill>
                  <a:srgbClr val="FF0000"/>
                </a:solidFill>
              </a:rPr>
              <a:t> </a:t>
            </a:r>
            <a:r>
              <a:rPr kumimoji="0" lang="ko-KR" altLang="en-US" b="1" dirty="0" smtClean="0">
                <a:solidFill>
                  <a:srgbClr val="FF0000"/>
                </a:solidFill>
              </a:rPr>
              <a:t>함수를 선언해준다</a:t>
            </a:r>
            <a:r>
              <a:rPr kumimoji="0" lang="en-US" altLang="ko-KR" dirty="0" smtClean="0"/>
              <a:t>.</a:t>
            </a:r>
            <a:endParaRPr kumimoji="0" lang="ko-KR" altLang="en-US" dirty="0" smtClean="0"/>
          </a:p>
        </p:txBody>
      </p:sp>
      <p:sp>
        <p:nvSpPr>
          <p:cNvPr id="11" name="직사각형 10"/>
          <p:cNvSpPr/>
          <p:nvPr/>
        </p:nvSpPr>
        <p:spPr bwMode="auto">
          <a:xfrm>
            <a:off x="3131840" y="1772816"/>
            <a:ext cx="3312368" cy="1224136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b="1" dirty="0" smtClean="0">
              <a:solidFill>
                <a:srgbClr val="FF0000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783931" y="2780928"/>
            <a:ext cx="3816424" cy="180020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1.OnLoadCompleted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함수를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만들때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항상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FormId_OnLoadCompleted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obj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만들어 준다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개발규칙가이드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스크립트 시작되는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맨위에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함수를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위치시킨다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(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개발규칙가이드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33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조회해올 </a:t>
            </a:r>
            <a:r>
              <a:rPr kumimoji="0" lang="en-US" altLang="ko-KR" sz="1600" b="1" dirty="0" smtClean="0">
                <a:latin typeface="+mn-ea"/>
                <a:ea typeface="+mn-ea"/>
              </a:rPr>
              <a:t>dataset</a:t>
            </a:r>
            <a:r>
              <a:rPr kumimoji="0" lang="ko-KR" altLang="en-US" sz="1600" b="1" dirty="0" smtClean="0">
                <a:latin typeface="+mn-ea"/>
                <a:ea typeface="+mn-ea"/>
              </a:rPr>
              <a:t>을 만들어 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 (</a:t>
            </a:r>
            <a:r>
              <a:rPr kumimoji="0" lang="ko-KR" altLang="en-US" sz="1600" b="1" dirty="0" smtClean="0">
                <a:latin typeface="+mn-ea"/>
                <a:ea typeface="+mn-ea"/>
              </a:rPr>
              <a:t>여기서는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user_Info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하나만 만들어 사용한다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.)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471281"/>
            <a:ext cx="2886075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146" y="1412776"/>
            <a:ext cx="5994623" cy="456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 bwMode="auto">
          <a:xfrm>
            <a:off x="393568" y="4113076"/>
            <a:ext cx="1908212" cy="324036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211886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0" y="1772816"/>
            <a:ext cx="8784976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1.</a:t>
            </a:r>
            <a:r>
              <a:rPr kumimoji="0" lang="ko-KR" altLang="en-US" sz="1600" b="1" dirty="0" smtClean="0">
                <a:latin typeface="+mn-ea"/>
                <a:ea typeface="+mn-ea"/>
              </a:rPr>
              <a:t>데이터를 조회해올 </a:t>
            </a:r>
            <a:r>
              <a:rPr kumimoji="0" lang="en-US" altLang="ko-KR" sz="1600" b="1" dirty="0" smtClean="0">
                <a:latin typeface="+mn-ea"/>
                <a:ea typeface="+mn-ea"/>
              </a:rPr>
              <a:t>dataset</a:t>
            </a:r>
            <a:r>
              <a:rPr kumimoji="0" lang="ko-KR" altLang="en-US" sz="1600" b="1" dirty="0" smtClean="0">
                <a:latin typeface="+mn-ea"/>
                <a:ea typeface="+mn-ea"/>
              </a:rPr>
              <a:t>명</a:t>
            </a:r>
            <a:r>
              <a:rPr kumimoji="0" lang="en-US" altLang="ko-KR" sz="1600" b="1" dirty="0" smtClean="0">
                <a:latin typeface="+mn-ea"/>
                <a:ea typeface="+mn-ea"/>
              </a:rPr>
              <a:t>.Load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메소드로</a:t>
            </a:r>
            <a:r>
              <a:rPr kumimoji="0" lang="ko-KR" altLang="en-US" sz="1600" b="1" dirty="0" smtClean="0">
                <a:latin typeface="+mn-ea"/>
                <a:ea typeface="+mn-ea"/>
              </a:rPr>
              <a:t> 데이터를 조회해온다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4" y="2221228"/>
            <a:ext cx="8375650" cy="184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87"/>
          <p:cNvSpPr txBox="1">
            <a:spLocks noChangeArrowheads="1"/>
          </p:cNvSpPr>
          <p:nvPr/>
        </p:nvSpPr>
        <p:spPr bwMode="auto">
          <a:xfrm>
            <a:off x="2154375" y="2492896"/>
            <a:ext cx="6378065" cy="1512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1.Common/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json</a:t>
            </a:r>
            <a:r>
              <a:rPr kumimoji="0" lang="en-US" altLang="ko-KR" sz="1600" b="1" dirty="0" smtClean="0">
                <a:latin typeface="+mn-ea"/>
                <a:ea typeface="+mn-ea"/>
              </a:rPr>
              <a:t>/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findTest.action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액션명으로</a:t>
            </a:r>
            <a:r>
              <a:rPr kumimoji="0" lang="ko-KR" altLang="en-US" sz="1600" b="1" dirty="0" smtClean="0">
                <a:latin typeface="+mn-ea"/>
                <a:ea typeface="+mn-ea"/>
              </a:rPr>
              <a:t> 만들어준다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2. </a:t>
            </a:r>
            <a:r>
              <a:rPr kumimoji="0" lang="ko-KR" altLang="en-US" sz="1600" b="1" dirty="0" smtClean="0">
                <a:latin typeface="+mn-ea"/>
                <a:ea typeface="+mn-ea"/>
              </a:rPr>
              <a:t>뒤의</a:t>
            </a:r>
            <a:r>
              <a:rPr kumimoji="0" lang="en-US" altLang="ko-KR" sz="1600" b="1" dirty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조회조건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파라미터는</a:t>
            </a:r>
            <a:r>
              <a:rPr kumimoji="0" lang="ko-KR" altLang="en-US" sz="1600" b="1" dirty="0" smtClean="0">
                <a:latin typeface="+mn-ea"/>
                <a:ea typeface="+mn-ea"/>
              </a:rPr>
              <a:t> 항상 우선순위를 지킨다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2-1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맨앞의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pageQuery</a:t>
            </a:r>
            <a:r>
              <a:rPr kumimoji="0" lang="ko-KR" altLang="en-US" sz="1600" b="1" dirty="0" smtClean="0">
                <a:latin typeface="+mn-ea"/>
                <a:ea typeface="+mn-ea"/>
              </a:rPr>
              <a:t>는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그리드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페이징관련</a:t>
            </a:r>
            <a:r>
              <a:rPr kumimoji="0" lang="ko-KR" altLang="en-US" sz="1600" b="1" dirty="0" smtClean="0">
                <a:latin typeface="+mn-ea"/>
                <a:ea typeface="+mn-ea"/>
              </a:rPr>
              <a:t> 공통변수이다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맨먼저선언해줄것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2-2 parameter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변수명은</a:t>
            </a:r>
            <a:r>
              <a:rPr kumimoji="0" lang="ko-KR" altLang="en-US" sz="1600" b="1" dirty="0" smtClean="0">
                <a:latin typeface="+mn-ea"/>
                <a:ea typeface="+mn-ea"/>
              </a:rPr>
              <a:t> 항상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그리드의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컬럼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ID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쓰기를 권장한다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smtClean="0">
                <a:latin typeface="+mn-ea"/>
                <a:ea typeface="+mn-ea"/>
              </a:rPr>
              <a:t>이변수명이 서버의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ibatis</a:t>
            </a:r>
            <a:r>
              <a:rPr kumimoji="0" lang="ko-KR" altLang="en-US" sz="1600" b="1" dirty="0" smtClean="0">
                <a:latin typeface="+mn-ea"/>
                <a:ea typeface="+mn-ea"/>
              </a:rPr>
              <a:t>의 </a:t>
            </a:r>
            <a:r>
              <a:rPr kumimoji="0" lang="en-US" altLang="ko-KR" sz="1600" b="1" dirty="0" smtClean="0">
                <a:latin typeface="+mn-ea"/>
                <a:ea typeface="+mn-ea"/>
              </a:rPr>
              <a:t>where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조건명으로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자동매칭된다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3. </a:t>
            </a:r>
            <a:r>
              <a:rPr kumimoji="0" lang="ko-KR" altLang="en-US" sz="1600" b="1" dirty="0" smtClean="0">
                <a:latin typeface="+mn-ea"/>
                <a:ea typeface="+mn-ea"/>
              </a:rPr>
              <a:t>조회는 항상 </a:t>
            </a:r>
            <a:r>
              <a:rPr kumimoji="0" lang="en-US" altLang="ko-KR" sz="1600" b="1" dirty="0" smtClean="0">
                <a:latin typeface="+mn-ea"/>
                <a:ea typeface="+mn-ea"/>
              </a:rPr>
              <a:t>get</a:t>
            </a:r>
            <a:r>
              <a:rPr kumimoji="0" lang="ko-KR" altLang="en-US" sz="1600" b="1" dirty="0" smtClean="0">
                <a:latin typeface="+mn-ea"/>
                <a:ea typeface="+mn-ea"/>
              </a:rPr>
              <a:t>방식으로 위의 규칙을 따른다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123728" y="1916832"/>
            <a:ext cx="6624985" cy="396044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326265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en-US" altLang="ko-KR" dirty="0" err="1">
                <a:latin typeface="+mn-ea"/>
              </a:rPr>
              <a:t>Miplatform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개발</a:t>
            </a:r>
            <a:endParaRPr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조회후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user_Info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dataSet</a:t>
            </a:r>
            <a:r>
              <a:rPr kumimoji="0" lang="ko-KR" altLang="en-US" sz="1600" b="1" dirty="0" smtClean="0">
                <a:latin typeface="+mn-ea"/>
                <a:ea typeface="+mn-ea"/>
              </a:rPr>
              <a:t>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그리드에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bind</a:t>
            </a:r>
            <a:r>
              <a:rPr kumimoji="0" lang="ko-KR" altLang="en-US" sz="1600" b="1" dirty="0" smtClean="0">
                <a:latin typeface="+mn-ea"/>
                <a:ea typeface="+mn-ea"/>
              </a:rPr>
              <a:t>하면 간단히 조회가 완료됐다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서버에서 </a:t>
            </a:r>
            <a:r>
              <a:rPr kumimoji="0" lang="en-US" altLang="ko-KR" sz="1600" b="1" dirty="0" smtClean="0">
                <a:latin typeface="+mn-ea"/>
                <a:ea typeface="+mn-ea"/>
              </a:rPr>
              <a:t>DB</a:t>
            </a:r>
            <a:r>
              <a:rPr kumimoji="0" lang="ko-KR" altLang="en-US" sz="1600" b="1" dirty="0" smtClean="0">
                <a:latin typeface="+mn-ea"/>
                <a:ea typeface="+mn-ea"/>
              </a:rPr>
              <a:t>데이터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가져오는건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챕터</a:t>
            </a:r>
            <a:r>
              <a:rPr kumimoji="0" lang="en-US" altLang="ko-KR" sz="1600" b="1" dirty="0" smtClean="0">
                <a:latin typeface="+mn-ea"/>
                <a:ea typeface="+mn-ea"/>
              </a:rPr>
              <a:t>3</a:t>
            </a:r>
            <a:r>
              <a:rPr kumimoji="0" lang="ko-KR" altLang="en-US" sz="1600" b="1" dirty="0" smtClean="0">
                <a:latin typeface="+mn-ea"/>
                <a:ea typeface="+mn-ea"/>
              </a:rPr>
              <a:t>에 기술하겠음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" y="1628800"/>
            <a:ext cx="8748713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40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en-US" altLang="ko-KR" sz="3600" dirty="0">
                <a:latin typeface="+mn-ea"/>
              </a:rPr>
              <a:t> </a:t>
            </a:r>
            <a:r>
              <a:rPr lang="ko-KR" altLang="en-US" sz="3600" dirty="0">
                <a:latin typeface="+mn-ea"/>
              </a:rPr>
              <a:t>서버</a:t>
            </a:r>
            <a:r>
              <a:rPr lang="en-US" altLang="ko-KR" sz="3600" dirty="0">
                <a:latin typeface="+mn-ea"/>
              </a:rPr>
              <a:t>(</a:t>
            </a:r>
            <a:r>
              <a:rPr lang="en-US" altLang="ko-KR" sz="3600" dirty="0" err="1">
                <a:latin typeface="+mn-ea"/>
              </a:rPr>
              <a:t>bussiness</a:t>
            </a:r>
            <a:r>
              <a:rPr lang="en-US" altLang="ko-KR" sz="3600" dirty="0">
                <a:latin typeface="+mn-ea"/>
              </a:rPr>
              <a:t>)</a:t>
            </a:r>
            <a:r>
              <a:rPr lang="ko-KR" altLang="en-US" sz="3600" dirty="0">
                <a:latin typeface="+mn-ea"/>
              </a:rPr>
              <a:t> 개발</a:t>
            </a:r>
            <a:r>
              <a:rPr lang="en-US" altLang="ko-KR" sz="3600" dirty="0">
                <a:latin typeface="+mn-ea"/>
              </a:rPr>
              <a:t/>
            </a:r>
            <a:br>
              <a:rPr lang="en-US" altLang="ko-KR" sz="3600" dirty="0">
                <a:latin typeface="+mn-ea"/>
              </a:rPr>
            </a:b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5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err="1" smtClean="0">
                <a:latin typeface="+mn-ea"/>
                <a:ea typeface="+mn-ea"/>
              </a:rPr>
              <a:t>Miplatform</a:t>
            </a:r>
            <a:r>
              <a:rPr kumimoji="0" lang="ko-KR" altLang="en-US" sz="1600" b="1" dirty="0" smtClean="0">
                <a:latin typeface="+mn-ea"/>
                <a:ea typeface="+mn-ea"/>
              </a:rPr>
              <a:t>화면에서 </a:t>
            </a:r>
            <a:r>
              <a:rPr kumimoji="0" lang="en-US" altLang="ko-KR" sz="1600" b="1" dirty="0" smtClean="0">
                <a:latin typeface="+mn-ea"/>
                <a:ea typeface="+mn-ea"/>
              </a:rPr>
              <a:t>.action</a:t>
            </a:r>
            <a:r>
              <a:rPr kumimoji="0" lang="ko-KR" altLang="en-US" sz="1600" b="1" dirty="0" smtClean="0">
                <a:latin typeface="+mn-ea"/>
                <a:ea typeface="+mn-ea"/>
              </a:rPr>
              <a:t>으로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보낸경로에</a:t>
            </a:r>
            <a:r>
              <a:rPr kumimoji="0" lang="ko-KR" altLang="en-US" sz="1600" b="1" dirty="0" smtClean="0">
                <a:latin typeface="+mn-ea"/>
                <a:ea typeface="+mn-ea"/>
              </a:rPr>
              <a:t> 맞춰 설정을 해준다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</a:rPr>
              <a:t>(Common/</a:t>
            </a:r>
            <a:r>
              <a:rPr kumimoji="0" lang="en-US" altLang="ko-KR" sz="1600" b="1" dirty="0" err="1" smtClean="0">
                <a:latin typeface="+mn-ea"/>
              </a:rPr>
              <a:t>json</a:t>
            </a:r>
            <a:r>
              <a:rPr kumimoji="0" lang="en-US" altLang="ko-KR" sz="1600" b="1" dirty="0" smtClean="0">
                <a:latin typeface="+mn-ea"/>
              </a:rPr>
              <a:t>/</a:t>
            </a:r>
            <a:r>
              <a:rPr kumimoji="0" lang="en-US" altLang="ko-KR" sz="1600" b="1" dirty="0" err="1" smtClean="0">
                <a:latin typeface="+mn-ea"/>
              </a:rPr>
              <a:t>findTest.action</a:t>
            </a:r>
            <a:r>
              <a:rPr kumimoji="0" lang="en-US" altLang="ko-KR" sz="1600" b="1" dirty="0" smtClean="0">
                <a:latin typeface="+mn-ea"/>
              </a:rPr>
              <a:t> </a:t>
            </a:r>
            <a:r>
              <a:rPr kumimoji="0" lang="ko-KR" altLang="en-US" sz="1600" b="1" dirty="0" smtClean="0">
                <a:latin typeface="+mn-ea"/>
              </a:rPr>
              <a:t>으로 보냈음</a:t>
            </a:r>
            <a:r>
              <a:rPr kumimoji="0" lang="en-US" altLang="ko-KR" sz="1600" b="1" dirty="0" smtClean="0">
                <a:latin typeface="+mn-ea"/>
              </a:rPr>
              <a:t>)</a:t>
            </a:r>
            <a:endParaRPr kumimoji="0" lang="en-US" altLang="ko-KR" sz="1600" b="1" dirty="0">
              <a:latin typeface="+mn-ea"/>
            </a:endParaRPr>
          </a:p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27101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Action </a:t>
            </a:r>
            <a:r>
              <a:rPr kumimoji="0" lang="ko-KR" altLang="en-US" sz="1600" b="1" dirty="0" smtClean="0">
                <a:latin typeface="+mn-ea"/>
                <a:ea typeface="+mn-ea"/>
              </a:rPr>
              <a:t>명은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findTest</a:t>
            </a:r>
            <a:r>
              <a:rPr kumimoji="0" lang="en-US" altLang="ko-KR" sz="1600" b="1" dirty="0" smtClean="0">
                <a:latin typeface="+mn-ea"/>
                <a:ea typeface="+mn-ea"/>
              </a:rPr>
              <a:t>, method </a:t>
            </a:r>
            <a:r>
              <a:rPr kumimoji="0" lang="ko-KR" altLang="en-US" sz="1600" b="1" dirty="0" smtClean="0">
                <a:latin typeface="+mn-ea"/>
                <a:ea typeface="+mn-ea"/>
              </a:rPr>
              <a:t>는</a:t>
            </a:r>
            <a:r>
              <a:rPr kumimoji="0" lang="en-US" altLang="ko-KR" sz="1600" b="1" dirty="0" smtClean="0">
                <a:latin typeface="+mn-ea"/>
                <a:ea typeface="+mn-ea"/>
              </a:rPr>
              <a:t> find, class</a:t>
            </a:r>
            <a:r>
              <a:rPr kumimoji="0" lang="ko-KR" altLang="en-US" sz="1600" b="1" dirty="0" smtClean="0">
                <a:latin typeface="+mn-ea"/>
                <a:ea typeface="+mn-ea"/>
              </a:rPr>
              <a:t>는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UserAction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param</a:t>
            </a:r>
            <a:r>
              <a:rPr kumimoji="0" lang="ko-KR" altLang="en-US" sz="1600" b="1" dirty="0" smtClean="0">
                <a:latin typeface="+mn-ea"/>
                <a:ea typeface="+mn-ea"/>
              </a:rPr>
              <a:t>명은 </a:t>
            </a:r>
            <a:r>
              <a:rPr kumimoji="0" lang="en-US" altLang="ko-KR" sz="1600" b="1" dirty="0" smtClean="0">
                <a:latin typeface="+mn-ea"/>
                <a:ea typeface="+mn-ea"/>
              </a:rPr>
              <a:t>TEST</a:t>
            </a:r>
            <a:r>
              <a:rPr kumimoji="0" lang="ko-KR" altLang="en-US" sz="1600" b="1" dirty="0" smtClean="0">
                <a:latin typeface="+mn-ea"/>
                <a:ea typeface="+mn-ea"/>
              </a:rPr>
              <a:t>로 설정한다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649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err="1" smtClean="0">
                <a:latin typeface="+mn-ea"/>
                <a:ea typeface="+mn-ea"/>
              </a:rPr>
              <a:t>db</a:t>
            </a:r>
            <a:r>
              <a:rPr kumimoji="0" lang="en-US" altLang="ko-KR" sz="1600" b="1" dirty="0" smtClean="0">
                <a:latin typeface="+mn-ea"/>
                <a:ea typeface="+mn-ea"/>
              </a:rPr>
              <a:t> access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위한 </a:t>
            </a:r>
            <a:r>
              <a:rPr kumimoji="0" lang="en-US" altLang="ko-KR" sz="1600" b="1" dirty="0" smtClean="0">
                <a:latin typeface="+mn-ea"/>
                <a:ea typeface="+mn-ea"/>
              </a:rPr>
              <a:t>model, service,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dao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sql</a:t>
            </a:r>
            <a:r>
              <a:rPr kumimoji="0" lang="en-US" altLang="ko-KR" sz="1600" b="1" dirty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표준네이밍규칙문서에</a:t>
            </a:r>
            <a:r>
              <a:rPr kumimoji="0" lang="ko-KR" altLang="en-US" sz="1600" b="1" dirty="0" smtClean="0">
                <a:latin typeface="+mn-ea"/>
                <a:ea typeface="+mn-ea"/>
              </a:rPr>
              <a:t> 맞춰 생성한다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24744"/>
            <a:ext cx="175260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106120"/>
            <a:ext cx="160972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124744"/>
            <a:ext cx="1819275" cy="293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105694"/>
            <a:ext cx="16192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/>
        </p:nvSpPr>
        <p:spPr bwMode="auto">
          <a:xfrm>
            <a:off x="668385" y="3501008"/>
            <a:ext cx="1350918" cy="22393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 bwMode="auto">
          <a:xfrm>
            <a:off x="2541163" y="4229894"/>
            <a:ext cx="1350918" cy="22393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5" name="직사각형 14"/>
          <p:cNvSpPr/>
          <p:nvPr/>
        </p:nvSpPr>
        <p:spPr bwMode="auto">
          <a:xfrm>
            <a:off x="4522616" y="3294935"/>
            <a:ext cx="1350918" cy="22393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6" name="직사각형 15"/>
          <p:cNvSpPr/>
          <p:nvPr/>
        </p:nvSpPr>
        <p:spPr bwMode="auto">
          <a:xfrm>
            <a:off x="6434358" y="3385130"/>
            <a:ext cx="1350918" cy="13373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362097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TestDAO.java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내용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403225" y="1386813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package </a:t>
            </a:r>
            <a:r>
              <a:rPr lang="en-US" altLang="ko-KR" b="1" dirty="0" err="1"/>
              <a:t>wvan.app.dao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wvan.com.base.RootDAO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public class </a:t>
            </a:r>
            <a:r>
              <a:rPr lang="en-US" altLang="ko-KR" b="1" dirty="0" err="1"/>
              <a:t>TestDAO</a:t>
            </a:r>
            <a:r>
              <a:rPr lang="en-US" altLang="ko-KR" b="1" dirty="0"/>
              <a:t> extends </a:t>
            </a:r>
            <a:r>
              <a:rPr lang="en-US" altLang="ko-KR" b="1" dirty="0" err="1"/>
              <a:t>RootDAO</a:t>
            </a:r>
            <a:r>
              <a:rPr lang="en-US" altLang="ko-KR" b="1" dirty="0"/>
              <a:t> {</a:t>
            </a:r>
          </a:p>
          <a:p>
            <a:endParaRPr lang="ko-KR" altLang="en-US" dirty="0"/>
          </a:p>
          <a:p>
            <a:r>
              <a:rPr lang="en-US" altLang="ko-KR" b="1" dirty="0"/>
              <a:t>protected String </a:t>
            </a:r>
            <a:r>
              <a:rPr lang="en-US" altLang="ko-KR" b="1" dirty="0" err="1"/>
              <a:t>getClassKey</a:t>
            </a:r>
            <a:r>
              <a:rPr lang="en-US" altLang="ko-KR" b="1" dirty="0"/>
              <a:t>() {</a:t>
            </a:r>
          </a:p>
          <a:p>
            <a:r>
              <a:rPr lang="en-US" altLang="ko-KR" b="1" dirty="0"/>
              <a:t>return "Test";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891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TestInfo.java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내용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467544" y="1052736"/>
            <a:ext cx="81369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package </a:t>
            </a:r>
            <a:r>
              <a:rPr lang="en-US" altLang="ko-KR" b="1" dirty="0" err="1"/>
              <a:t>wvan.app.model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java.io.Serializable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wvan.com.base.Root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public class </a:t>
            </a:r>
            <a:r>
              <a:rPr lang="en-US" altLang="ko-KR" b="1" dirty="0" err="1"/>
              <a:t>TestInfo</a:t>
            </a:r>
            <a:r>
              <a:rPr lang="en-US" altLang="ko-KR" b="1" dirty="0"/>
              <a:t> extends Root implements </a:t>
            </a:r>
            <a:r>
              <a:rPr lang="en-US" altLang="ko-KR" b="1" dirty="0" err="1"/>
              <a:t>Serializable</a:t>
            </a:r>
            <a:r>
              <a:rPr lang="en-US" altLang="ko-KR" b="1" dirty="0"/>
              <a:t> {</a:t>
            </a:r>
          </a:p>
          <a:p>
            <a:endParaRPr lang="ko-KR" altLang="en-US" dirty="0"/>
          </a:p>
          <a:p>
            <a:r>
              <a:rPr lang="en-US" altLang="ko-KR" b="1" dirty="0"/>
              <a:t>private static final long </a:t>
            </a:r>
            <a:r>
              <a:rPr lang="en-US" altLang="ko-KR" b="1" i="1" dirty="0" err="1"/>
              <a:t>serialVersionUID</a:t>
            </a:r>
            <a:r>
              <a:rPr lang="en-US" altLang="ko-KR" b="1" i="1" dirty="0"/>
              <a:t> = -5706952950447288033L;</a:t>
            </a:r>
          </a:p>
          <a:p>
            <a:endParaRPr lang="ko-KR" altLang="en-US" dirty="0"/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61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TestService.java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내용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sp>
        <p:nvSpPr>
          <p:cNvPr id="3" name="직사각형 2"/>
          <p:cNvSpPr/>
          <p:nvPr/>
        </p:nvSpPr>
        <p:spPr>
          <a:xfrm>
            <a:off x="403224" y="992138"/>
            <a:ext cx="791319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package </a:t>
            </a:r>
            <a:r>
              <a:rPr lang="en-US" altLang="ko-KR" b="1" dirty="0" err="1"/>
              <a:t>wvan.app.service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wvan.app.dao.TestDAO</a:t>
            </a:r>
            <a:r>
              <a:rPr lang="en-US" altLang="ko-KR" b="1" dirty="0"/>
              <a:t>;</a:t>
            </a:r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wvan.com.base.RootDAO</a:t>
            </a:r>
            <a:r>
              <a:rPr lang="en-US" altLang="ko-KR" b="1" dirty="0"/>
              <a:t>;</a:t>
            </a:r>
          </a:p>
          <a:p>
            <a:r>
              <a:rPr lang="en-US" altLang="ko-KR" b="1" dirty="0"/>
              <a:t>import </a:t>
            </a:r>
            <a:r>
              <a:rPr lang="en-US" altLang="ko-KR" b="1" dirty="0" err="1"/>
              <a:t>wvan.com.base.RootService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public class </a:t>
            </a:r>
            <a:r>
              <a:rPr lang="en-US" altLang="ko-KR" b="1" dirty="0" err="1"/>
              <a:t>TestService</a:t>
            </a:r>
            <a:r>
              <a:rPr lang="en-US" altLang="ko-KR" b="1" dirty="0"/>
              <a:t> extends </a:t>
            </a:r>
            <a:r>
              <a:rPr lang="en-US" altLang="ko-KR" b="1" dirty="0" err="1"/>
              <a:t>RootService</a:t>
            </a:r>
            <a:r>
              <a:rPr lang="en-US" altLang="ko-KR" b="1" dirty="0"/>
              <a:t> {</a:t>
            </a:r>
          </a:p>
          <a:p>
            <a:endParaRPr lang="ko-KR" altLang="en-US" dirty="0"/>
          </a:p>
          <a:p>
            <a:r>
              <a:rPr lang="en-US" altLang="ko-KR" b="1" dirty="0"/>
              <a:t>private </a:t>
            </a:r>
            <a:r>
              <a:rPr lang="en-US" altLang="ko-KR" b="1" dirty="0" err="1"/>
              <a:t>TestDAO</a:t>
            </a:r>
            <a:r>
              <a:rPr lang="en-US" altLang="ko-KR" b="1" dirty="0"/>
              <a:t> </a:t>
            </a:r>
            <a:r>
              <a:rPr lang="en-US" altLang="ko-KR" b="1" dirty="0" err="1"/>
              <a:t>dao</a:t>
            </a:r>
            <a:r>
              <a:rPr lang="en-US" altLang="ko-KR" b="1" dirty="0"/>
              <a:t>;</a:t>
            </a:r>
          </a:p>
          <a:p>
            <a:endParaRPr lang="ko-KR" altLang="en-US" dirty="0"/>
          </a:p>
          <a:p>
            <a:r>
              <a:rPr lang="en-US" altLang="ko-KR" b="1" dirty="0"/>
              <a:t>protected </a:t>
            </a:r>
            <a:r>
              <a:rPr lang="en-US" altLang="ko-KR" b="1" dirty="0" err="1"/>
              <a:t>RootDAO</a:t>
            </a:r>
            <a:r>
              <a:rPr lang="en-US" altLang="ko-KR" b="1" dirty="0"/>
              <a:t> </a:t>
            </a:r>
            <a:r>
              <a:rPr lang="en-US" altLang="ko-KR" b="1" dirty="0" err="1"/>
              <a:t>getDAO</a:t>
            </a:r>
            <a:r>
              <a:rPr lang="en-US" altLang="ko-KR" b="1" dirty="0"/>
              <a:t>() {</a:t>
            </a:r>
          </a:p>
          <a:p>
            <a:r>
              <a:rPr lang="en-US" altLang="ko-KR" b="1" dirty="0"/>
              <a:t>return </a:t>
            </a:r>
            <a:r>
              <a:rPr lang="en-US" altLang="ko-KR" b="1" dirty="0" err="1"/>
              <a:t>dao</a:t>
            </a:r>
            <a:r>
              <a:rPr lang="en-US" altLang="ko-KR" b="1" dirty="0"/>
              <a:t>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b="1" dirty="0"/>
              <a:t>public void </a:t>
            </a:r>
            <a:r>
              <a:rPr lang="en-US" altLang="ko-KR" b="1" dirty="0" err="1"/>
              <a:t>setDao</a:t>
            </a:r>
            <a:r>
              <a:rPr lang="en-US" altLang="ko-KR" b="1" dirty="0"/>
              <a:t>(</a:t>
            </a:r>
            <a:r>
              <a:rPr lang="en-US" altLang="ko-KR" b="1" dirty="0" err="1"/>
              <a:t>TestDAO</a:t>
            </a:r>
            <a:r>
              <a:rPr lang="en-US" altLang="ko-KR" b="1" dirty="0"/>
              <a:t> </a:t>
            </a:r>
            <a:r>
              <a:rPr lang="en-US" altLang="ko-KR" b="1" dirty="0" err="1"/>
              <a:t>dao</a:t>
            </a:r>
            <a:r>
              <a:rPr lang="en-US" altLang="ko-KR" b="1" dirty="0"/>
              <a:t>) {</a:t>
            </a:r>
          </a:p>
          <a:p>
            <a:r>
              <a:rPr lang="en-US" altLang="ko-KR" b="1" dirty="0" err="1"/>
              <a:t>this.dao</a:t>
            </a:r>
            <a:r>
              <a:rPr lang="en-US" altLang="ko-KR" b="1" dirty="0"/>
              <a:t> = </a:t>
            </a:r>
            <a:r>
              <a:rPr lang="en-US" altLang="ko-KR" b="1" dirty="0" err="1"/>
              <a:t>dao</a:t>
            </a:r>
            <a:r>
              <a:rPr lang="en-US" altLang="ko-KR" b="1" dirty="0"/>
              <a:t>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990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Test.xml </a:t>
            </a:r>
            <a:r>
              <a:rPr kumimoji="0" lang="ko-KR" altLang="en-US" sz="1600" b="1" dirty="0" smtClean="0">
                <a:latin typeface="+mn-ea"/>
                <a:ea typeface="+mn-ea"/>
              </a:rPr>
              <a:t>소스 내용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88" y="964976"/>
            <a:ext cx="8502707" cy="5358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 bwMode="auto">
          <a:xfrm>
            <a:off x="827584" y="1001800"/>
            <a:ext cx="3024336" cy="41097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Rectangle 187"/>
          <p:cNvSpPr txBox="1">
            <a:spLocks noChangeArrowheads="1"/>
          </p:cNvSpPr>
          <p:nvPr/>
        </p:nvSpPr>
        <p:spPr bwMode="auto">
          <a:xfrm>
            <a:off x="2627784" y="1033560"/>
            <a:ext cx="1224136" cy="37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200" b="1" dirty="0" smtClean="0">
                <a:latin typeface="+mn-ea"/>
                <a:ea typeface="+mn-ea"/>
              </a:rPr>
              <a:t>Namespace</a:t>
            </a:r>
            <a:r>
              <a:rPr kumimoji="0" lang="ko-KR" altLang="en-US" sz="1200" b="1" dirty="0" smtClean="0">
                <a:latin typeface="+mn-ea"/>
                <a:ea typeface="+mn-ea"/>
              </a:rPr>
              <a:t>명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1012899" y="1565175"/>
            <a:ext cx="5863358" cy="41097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2" name="Rectangle 187"/>
          <p:cNvSpPr txBox="1">
            <a:spLocks noChangeArrowheads="1"/>
          </p:cNvSpPr>
          <p:nvPr/>
        </p:nvSpPr>
        <p:spPr bwMode="auto">
          <a:xfrm>
            <a:off x="2224376" y="1976150"/>
            <a:ext cx="5587984" cy="516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조회</a:t>
            </a:r>
            <a:r>
              <a:rPr kumimoji="0" lang="en-US" altLang="ko-KR" sz="1200" b="1" dirty="0" smtClean="0">
                <a:latin typeface="+mn-ea"/>
                <a:ea typeface="+mn-ea"/>
              </a:rPr>
              <a:t>Id</a:t>
            </a:r>
            <a:r>
              <a:rPr kumimoji="0" lang="ko-KR" altLang="en-US" sz="1200" b="1" dirty="0" smtClean="0">
                <a:latin typeface="+mn-ea"/>
                <a:ea typeface="+mn-ea"/>
              </a:rPr>
              <a:t>는 항상 </a:t>
            </a:r>
            <a:r>
              <a:rPr kumimoji="0" lang="en-US" altLang="ko-KR" sz="1200" b="1" dirty="0" smtClean="0">
                <a:latin typeface="+mn-ea"/>
                <a:ea typeface="+mn-ea"/>
              </a:rPr>
              <a:t>list + </a:t>
            </a:r>
            <a:r>
              <a:rPr kumimoji="0" lang="en-US" altLang="ko-KR" sz="1200" b="1" dirty="0" err="1" smtClean="0">
                <a:latin typeface="+mn-ea"/>
                <a:ea typeface="+mn-ea"/>
              </a:rPr>
              <a:t>getClassKey</a:t>
            </a:r>
            <a:r>
              <a:rPr kumimoji="0" lang="en-US" altLang="ko-KR" sz="1200" b="1" dirty="0" smtClean="0">
                <a:latin typeface="+mn-ea"/>
                <a:ea typeface="+mn-ea"/>
              </a:rPr>
              <a:t>()</a:t>
            </a:r>
            <a:r>
              <a:rPr kumimoji="0" lang="ko-KR" altLang="en-US" sz="1200" b="1" dirty="0" smtClean="0">
                <a:latin typeface="+mn-ea"/>
                <a:ea typeface="+mn-ea"/>
              </a:rPr>
              <a:t>로 가며 항상 </a:t>
            </a:r>
            <a:r>
              <a:rPr kumimoji="0" lang="en-US" altLang="ko-KR" sz="1200" b="1" dirty="0" err="1" smtClean="0">
                <a:latin typeface="+mn-ea"/>
                <a:ea typeface="+mn-ea"/>
              </a:rPr>
              <a:t>Hashmap</a:t>
            </a:r>
            <a:r>
              <a:rPr kumimoji="0" lang="ko-KR" altLang="en-US" sz="1200" b="1" dirty="0" smtClean="0">
                <a:latin typeface="+mn-ea"/>
                <a:ea typeface="+mn-ea"/>
              </a:rPr>
              <a:t>으로 데이터 연동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788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2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applicationContext-common.xml 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파일에 </a:t>
            </a:r>
            <a:r>
              <a:rPr kumimoji="0" lang="en-US" altLang="ko-KR" sz="1600" b="1" dirty="0" smtClean="0">
                <a:latin typeface="+mn-ea"/>
                <a:ea typeface="+mn-ea"/>
              </a:rPr>
              <a:t>bean</a:t>
            </a:r>
            <a:r>
              <a:rPr kumimoji="0" lang="ko-KR" altLang="en-US" sz="1600" b="1" dirty="0" smtClean="0">
                <a:latin typeface="+mn-ea"/>
                <a:ea typeface="+mn-ea"/>
              </a:rPr>
              <a:t>등록을 해준다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Ⅲ. </a:t>
            </a:r>
            <a:r>
              <a:rPr lang="ko-KR" altLang="en-US" dirty="0">
                <a:latin typeface="+mn-ea"/>
              </a:rPr>
              <a:t>서버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bussiness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개발</a:t>
            </a:r>
            <a:endParaRPr kumimoji="0" lang="ko-KR" altLang="en-US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36095"/>
            <a:ext cx="892899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8" y="1580105"/>
            <a:ext cx="8712968" cy="176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87"/>
          <p:cNvSpPr txBox="1">
            <a:spLocks noChangeArrowheads="1"/>
          </p:cNvSpPr>
          <p:nvPr/>
        </p:nvSpPr>
        <p:spPr bwMode="auto">
          <a:xfrm>
            <a:off x="352115" y="5157192"/>
            <a:ext cx="8375650" cy="42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마지막으로 </a:t>
            </a:r>
            <a:r>
              <a:rPr kumimoji="0" lang="en-US" altLang="ko-KR" sz="1600" b="1" dirty="0" smtClean="0">
                <a:latin typeface="+mn-ea"/>
                <a:ea typeface="+mn-ea"/>
              </a:rPr>
              <a:t>sqlmap-config.xml 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파일에 </a:t>
            </a:r>
            <a:r>
              <a:rPr kumimoji="0" lang="en-US" altLang="ko-KR" sz="1600" b="1" dirty="0" smtClean="0">
                <a:latin typeface="+mn-ea"/>
                <a:ea typeface="+mn-ea"/>
              </a:rPr>
              <a:t>query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파일을 등록해준다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28" y="5733256"/>
            <a:ext cx="496674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294928" y="2348880"/>
            <a:ext cx="837565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Struts.xml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파일에 </a:t>
            </a:r>
            <a:r>
              <a:rPr kumimoji="0" lang="en-US" altLang="ko-KR" sz="1600" b="1" dirty="0" smtClean="0">
                <a:latin typeface="+mn-ea"/>
                <a:ea typeface="+mn-ea"/>
              </a:rPr>
              <a:t>16</a:t>
            </a:r>
            <a:r>
              <a:rPr kumimoji="0" lang="ko-KR" altLang="en-US" sz="1600" b="1" dirty="0" smtClean="0">
                <a:latin typeface="+mn-ea"/>
                <a:ea typeface="+mn-ea"/>
              </a:rPr>
              <a:t>페이지에 </a:t>
            </a:r>
            <a:r>
              <a:rPr kumimoji="0" lang="en-US" altLang="ko-KR" sz="1600" b="1" dirty="0" smtClean="0">
                <a:latin typeface="+mn-ea"/>
                <a:ea typeface="+mn-ea"/>
              </a:rPr>
              <a:t>action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매핑해준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xml</a:t>
            </a:r>
            <a:r>
              <a:rPr kumimoji="0" lang="ko-KR" altLang="en-US" sz="1600" b="1" dirty="0" smtClean="0">
                <a:latin typeface="+mn-ea"/>
                <a:ea typeface="+mn-ea"/>
              </a:rPr>
              <a:t>파일을 등록해준다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여기서는 </a:t>
            </a:r>
            <a:r>
              <a:rPr kumimoji="0" lang="en-US" altLang="ko-KR" sz="1600" b="1" dirty="0" smtClean="0">
                <a:latin typeface="+mn-ea"/>
                <a:ea typeface="+mn-ea"/>
              </a:rPr>
              <a:t>struts-common</a:t>
            </a:r>
            <a:r>
              <a:rPr kumimoji="0" lang="ko-KR" altLang="en-US" sz="1600" b="1" dirty="0" smtClean="0">
                <a:latin typeface="+mn-ea"/>
                <a:ea typeface="+mn-ea"/>
              </a:rPr>
              <a:t>으로 등록했다 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44" y="3047828"/>
            <a:ext cx="4038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17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en-US" altLang="ko-KR" sz="3600" dirty="0">
                <a:latin typeface="+mn-ea"/>
              </a:rPr>
              <a:t> </a:t>
            </a:r>
            <a:r>
              <a:rPr lang="ko-KR" altLang="en-US" sz="3600" dirty="0" smtClean="0">
                <a:latin typeface="+mn-ea"/>
              </a:rPr>
              <a:t>권한관리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36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이번프로젝트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err="1" smtClean="0">
                <a:latin typeface="+mn-ea"/>
                <a:ea typeface="+mn-ea"/>
              </a:rPr>
              <a:t>webvanProject</a:t>
            </a:r>
            <a:r>
              <a:rPr kumimoji="0" lang="ko-KR" altLang="en-US" sz="1600" b="1" dirty="0" smtClean="0">
                <a:latin typeface="+mn-ea"/>
                <a:ea typeface="+mn-ea"/>
              </a:rPr>
              <a:t>의 권한은 기본적으로 사용자 및 사용자그룹 별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 화면 및 버튼단위로 컨트롤이 가능한 권한관리 기능을 제공한다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</a:endParaRPr>
          </a:p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84977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 bwMode="auto">
          <a:xfrm>
            <a:off x="611560" y="4149080"/>
            <a:ext cx="8352928" cy="2304256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 bwMode="auto">
          <a:xfrm>
            <a:off x="827584" y="5050097"/>
            <a:ext cx="5760640" cy="11152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각 </a:t>
            </a:r>
            <a:r>
              <a:rPr kumimoji="0" lang="ko-KR" altLang="en-US" sz="1050" dirty="0" err="1" smtClean="0"/>
              <a:t>화면별로</a:t>
            </a:r>
            <a:r>
              <a:rPr kumimoji="0" lang="ko-KR" altLang="en-US" sz="1050" dirty="0" smtClean="0"/>
              <a:t> 버튼권한을 총 </a:t>
            </a:r>
            <a:r>
              <a:rPr kumimoji="0" lang="en-US" altLang="ko-KR" sz="1050" dirty="0" smtClean="0"/>
              <a:t>10</a:t>
            </a:r>
            <a:r>
              <a:rPr kumimoji="0" lang="ko-KR" altLang="en-US" sz="1050" dirty="0" smtClean="0"/>
              <a:t>개까지 </a:t>
            </a:r>
            <a:r>
              <a:rPr kumimoji="0" lang="ko-KR" altLang="en-US" sz="1050" dirty="0" err="1" smtClean="0"/>
              <a:t>제어가능하다</a:t>
            </a:r>
            <a:r>
              <a:rPr kumimoji="0" lang="en-US" altLang="ko-KR" sz="1050" dirty="0" smtClean="0"/>
              <a:t>.</a:t>
            </a:r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기본</a:t>
            </a:r>
            <a:r>
              <a:rPr kumimoji="0" lang="en-US" altLang="ko-KR" sz="1050" dirty="0" smtClean="0"/>
              <a:t>(</a:t>
            </a:r>
            <a:r>
              <a:rPr kumimoji="0" lang="ko-KR" altLang="en-US" sz="1050" dirty="0" smtClean="0"/>
              <a:t>등록</a:t>
            </a:r>
            <a:r>
              <a:rPr kumimoji="0" lang="en-US" altLang="ko-KR" sz="1050" dirty="0" smtClean="0"/>
              <a:t>) &lt; -  </a:t>
            </a:r>
            <a:r>
              <a:rPr kumimoji="0" lang="ko-KR" altLang="en-US" sz="1050" dirty="0" smtClean="0"/>
              <a:t>메뉴화면 제어 권한설정이다</a:t>
            </a:r>
            <a:r>
              <a:rPr kumimoji="0" lang="en-US" altLang="ko-KR" sz="1050" dirty="0" smtClean="0"/>
              <a:t>.</a:t>
            </a:r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체크되어있어야 해당 그룹</a:t>
            </a:r>
            <a:r>
              <a:rPr kumimoji="0" lang="en-US" altLang="ko-KR" sz="1050" dirty="0" smtClean="0"/>
              <a:t>ID</a:t>
            </a:r>
            <a:r>
              <a:rPr kumimoji="0" lang="ko-KR" altLang="en-US" sz="1050" dirty="0" smtClean="0"/>
              <a:t>에 있는 사용자들이 그 화면을 </a:t>
            </a:r>
            <a:r>
              <a:rPr kumimoji="0" lang="ko-KR" altLang="en-US" sz="1050" dirty="0" err="1" smtClean="0"/>
              <a:t>볼수</a:t>
            </a:r>
            <a:r>
              <a:rPr kumimoji="0" lang="ko-KR" altLang="en-US" sz="1050" dirty="0" smtClean="0"/>
              <a:t> 있다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262950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각 세부 항목별로 확인해보자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827584" y="2050935"/>
            <a:ext cx="5760640" cy="2242161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기본</a:t>
            </a:r>
            <a:r>
              <a:rPr kumimoji="0" lang="en-US" altLang="ko-KR" sz="1050" dirty="0" smtClean="0"/>
              <a:t>(</a:t>
            </a:r>
            <a:r>
              <a:rPr kumimoji="0" lang="ko-KR" altLang="en-US" sz="1050" dirty="0" smtClean="0"/>
              <a:t>등록</a:t>
            </a:r>
            <a:r>
              <a:rPr kumimoji="0" lang="en-US" altLang="ko-KR" sz="1050" dirty="0" smtClean="0"/>
              <a:t>) : </a:t>
            </a:r>
            <a:r>
              <a:rPr kumimoji="0" lang="ko-KR" altLang="en-US" sz="1050" dirty="0" smtClean="0"/>
              <a:t>전 페이지에 설명</a:t>
            </a:r>
            <a:endParaRPr kumimoji="0" lang="en-US" altLang="ko-KR" sz="1050" dirty="0" smtClean="0"/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조회         </a:t>
            </a:r>
            <a:r>
              <a:rPr kumimoji="0" lang="en-US" altLang="ko-KR" sz="1050" dirty="0" smtClean="0"/>
              <a:t>: </a:t>
            </a:r>
            <a:r>
              <a:rPr kumimoji="0" lang="ko-KR" altLang="en-US" sz="1050" dirty="0" err="1" smtClean="0"/>
              <a:t>마이플랫폼</a:t>
            </a:r>
            <a:r>
              <a:rPr kumimoji="0" lang="ko-KR" altLang="en-US" sz="1050" dirty="0" smtClean="0"/>
              <a:t> 버튼 </a:t>
            </a:r>
            <a:r>
              <a:rPr kumimoji="0" lang="en-US" altLang="ko-KR" sz="1050" dirty="0" smtClean="0"/>
              <a:t>ID: </a:t>
            </a:r>
            <a:r>
              <a:rPr kumimoji="0" lang="en-US" altLang="ko-KR" sz="1400" b="1" dirty="0" err="1" smtClean="0">
                <a:solidFill>
                  <a:srgbClr val="FF0000"/>
                </a:solidFill>
              </a:rPr>
              <a:t>btn_sel</a:t>
            </a:r>
            <a:r>
              <a:rPr kumimoji="0" lang="en-US" altLang="ko-KR" sz="1400" b="1" dirty="0" smtClean="0">
                <a:solidFill>
                  <a:srgbClr val="FF0000"/>
                </a:solidFill>
              </a:rPr>
              <a:t> </a:t>
            </a:r>
            <a:r>
              <a:rPr kumimoji="0" lang="en-US" altLang="ko-KR" sz="1200" b="1" dirty="0" smtClean="0">
                <a:solidFill>
                  <a:srgbClr val="FF0000"/>
                </a:solidFill>
              </a:rPr>
              <a:t>     </a:t>
            </a:r>
            <a:r>
              <a:rPr kumimoji="0" lang="ko-KR" altLang="en-US" sz="1050" dirty="0" err="1" smtClean="0"/>
              <a:t>에매칭되어있다</a:t>
            </a:r>
            <a:r>
              <a:rPr kumimoji="0" lang="en-US" altLang="ko-KR" sz="1050" dirty="0" smtClean="0"/>
              <a:t>. </a:t>
            </a:r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수</a:t>
            </a:r>
            <a:r>
              <a:rPr kumimoji="0" lang="ko-KR" altLang="en-US" sz="1050" dirty="0"/>
              <a:t>정</a:t>
            </a:r>
            <a:r>
              <a:rPr kumimoji="0" lang="ko-KR" altLang="en-US" sz="1050" dirty="0" smtClean="0"/>
              <a:t>         </a:t>
            </a:r>
            <a:r>
              <a:rPr kumimoji="0" lang="en-US" altLang="ko-KR" sz="1050" dirty="0"/>
              <a:t>: </a:t>
            </a:r>
            <a:r>
              <a:rPr kumimoji="0" lang="ko-KR" altLang="en-US" sz="1050" dirty="0" err="1"/>
              <a:t>마이플랫폼</a:t>
            </a:r>
            <a:r>
              <a:rPr kumimoji="0" lang="ko-KR" altLang="en-US" sz="1050" dirty="0"/>
              <a:t> 버튼 </a:t>
            </a:r>
            <a:r>
              <a:rPr kumimoji="0" lang="en-US" altLang="ko-KR" sz="1050" dirty="0"/>
              <a:t>ID: </a:t>
            </a:r>
            <a:r>
              <a:rPr kumimoji="0" lang="en-US" altLang="ko-KR" sz="1400" b="1" dirty="0" err="1" smtClean="0">
                <a:solidFill>
                  <a:srgbClr val="FF0000"/>
                </a:solidFill>
              </a:rPr>
              <a:t>btn_save</a:t>
            </a:r>
            <a:r>
              <a:rPr kumimoji="0" lang="en-US" altLang="ko-KR" sz="1400" b="1" dirty="0" smtClean="0">
                <a:solidFill>
                  <a:srgbClr val="FF0000"/>
                </a:solidFill>
              </a:rPr>
              <a:t> </a:t>
            </a:r>
            <a:r>
              <a:rPr kumimoji="0" lang="en-US" altLang="ko-KR" sz="1200" b="1" dirty="0" smtClean="0">
                <a:solidFill>
                  <a:srgbClr val="FF0000"/>
                </a:solidFill>
              </a:rPr>
              <a:t>  </a:t>
            </a:r>
            <a:r>
              <a:rPr kumimoji="0" lang="ko-KR" altLang="en-US" sz="1050" dirty="0" err="1"/>
              <a:t>에매칭되어있다</a:t>
            </a:r>
            <a:r>
              <a:rPr kumimoji="0" lang="en-US" altLang="ko-KR" sz="1050" dirty="0" smtClean="0"/>
              <a:t>.</a:t>
            </a:r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삭제         </a:t>
            </a:r>
            <a:r>
              <a:rPr kumimoji="0" lang="en-US" altLang="ko-KR" sz="1050" dirty="0" smtClean="0"/>
              <a:t>: </a:t>
            </a:r>
            <a:r>
              <a:rPr kumimoji="0" lang="ko-KR" altLang="en-US" sz="1050" dirty="0" err="1"/>
              <a:t>마이플랫폼</a:t>
            </a:r>
            <a:r>
              <a:rPr kumimoji="0" lang="ko-KR" altLang="en-US" sz="1050" dirty="0"/>
              <a:t> 버튼 </a:t>
            </a:r>
            <a:r>
              <a:rPr kumimoji="0" lang="en-US" altLang="ko-KR" sz="1050" dirty="0"/>
              <a:t>ID: </a:t>
            </a:r>
            <a:r>
              <a:rPr kumimoji="0" lang="en-US" altLang="ko-KR" sz="1400" b="1" dirty="0" err="1" smtClean="0">
                <a:solidFill>
                  <a:srgbClr val="FF0000"/>
                </a:solidFill>
              </a:rPr>
              <a:t>btn_del</a:t>
            </a:r>
            <a:r>
              <a:rPr kumimoji="0" lang="en-US" altLang="ko-KR" sz="1200" b="1" dirty="0" smtClean="0">
                <a:solidFill>
                  <a:srgbClr val="FF0000"/>
                </a:solidFill>
              </a:rPr>
              <a:t>      </a:t>
            </a:r>
            <a:r>
              <a:rPr kumimoji="0" lang="ko-KR" altLang="en-US" sz="1050" dirty="0" err="1"/>
              <a:t>에매칭되어있다</a:t>
            </a:r>
            <a:r>
              <a:rPr kumimoji="0" lang="en-US" altLang="ko-KR" sz="1050" dirty="0" smtClean="0"/>
              <a:t>.</a:t>
            </a:r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현재</a:t>
            </a:r>
            <a:endParaRPr kumimoji="0" lang="en-US" altLang="ko-KR" sz="1050" dirty="0" smtClean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나머지 권한</a:t>
            </a:r>
            <a:r>
              <a:rPr kumimoji="0" lang="en-US" altLang="ko-KR" sz="1050" dirty="0" smtClean="0"/>
              <a:t>1…</a:t>
            </a:r>
            <a:r>
              <a:rPr kumimoji="0" lang="ko-KR" altLang="en-US" sz="1050" dirty="0" smtClean="0"/>
              <a:t>권한</a:t>
            </a:r>
            <a:r>
              <a:rPr kumimoji="0" lang="en-US" altLang="ko-KR" sz="1050" dirty="0" smtClean="0"/>
              <a:t>s </a:t>
            </a:r>
            <a:r>
              <a:rPr kumimoji="0" lang="ko-KR" altLang="en-US" sz="1050" dirty="0" smtClean="0"/>
              <a:t>까지는 미등록 버튼으로 추후 </a:t>
            </a:r>
            <a:r>
              <a:rPr kumimoji="0" lang="ko-KR" altLang="en-US" sz="1050" dirty="0" err="1" smtClean="0"/>
              <a:t>확장성</a:t>
            </a:r>
            <a:r>
              <a:rPr kumimoji="0" lang="ko-KR" altLang="en-US" sz="1050" dirty="0" smtClean="0"/>
              <a:t> 고려해서 </a:t>
            </a:r>
            <a:r>
              <a:rPr kumimoji="0" lang="ko-KR" altLang="en-US" sz="1050" dirty="0" err="1" smtClean="0"/>
              <a:t>필요시</a:t>
            </a:r>
            <a:r>
              <a:rPr kumimoji="0" lang="ko-KR" altLang="en-US" sz="1050" dirty="0" smtClean="0"/>
              <a:t> </a:t>
            </a:r>
            <a:r>
              <a:rPr kumimoji="0" lang="ko-KR" altLang="en-US" sz="1050" dirty="0" err="1" smtClean="0"/>
              <a:t>사용가능하다</a:t>
            </a:r>
            <a:r>
              <a:rPr kumimoji="0" lang="en-US" altLang="ko-KR" sz="1050" dirty="0" smtClean="0"/>
              <a:t>.</a:t>
            </a:r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25599"/>
            <a:ext cx="44577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73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사용법</a:t>
            </a:r>
            <a:r>
              <a:rPr kumimoji="0" lang="en-US" altLang="ko-KR" sz="1600" b="1" dirty="0" smtClean="0">
                <a:latin typeface="+mn-ea"/>
                <a:ea typeface="+mn-ea"/>
              </a:rPr>
              <a:t>1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01849"/>
            <a:ext cx="627697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2652676" y="1588074"/>
            <a:ext cx="3935548" cy="180020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onLoad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obj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OnLoadCompleted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함수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선언만 해주면 된다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611560" y="992138"/>
            <a:ext cx="381642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310394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사용법</a:t>
            </a:r>
            <a:r>
              <a:rPr kumimoji="0" lang="en-US" altLang="ko-KR" sz="1600" b="1" dirty="0" smtClean="0">
                <a:latin typeface="+mn-ea"/>
                <a:ea typeface="+mn-ea"/>
              </a:rPr>
              <a:t>2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45" y="1178626"/>
            <a:ext cx="268605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/>
        </p:nvSpPr>
        <p:spPr bwMode="auto">
          <a:xfrm>
            <a:off x="611560" y="1412776"/>
            <a:ext cx="3816424" cy="1058796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71" y="3573016"/>
            <a:ext cx="263842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2604226" y="2068496"/>
            <a:ext cx="3935548" cy="180020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화면에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ButtonComponentId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선언할때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조회버튼은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btn_sel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입력버튼은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btn_ins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저장버튼은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btn_save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삭제버튼은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btn_del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만들어준다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205309" y="3789040"/>
            <a:ext cx="1773561" cy="28803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5" name="직사각형 14"/>
          <p:cNvSpPr/>
          <p:nvPr/>
        </p:nvSpPr>
        <p:spPr bwMode="auto">
          <a:xfrm>
            <a:off x="435071" y="5301208"/>
            <a:ext cx="2886824" cy="28803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1619672" y="5569426"/>
            <a:ext cx="3935548" cy="90010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이런식으로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만들어주면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자동으로 권한 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매핑이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된다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ko-KR" alt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36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5" y="992138"/>
            <a:ext cx="8964488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16"/>
          <p:cNvSpPr/>
          <p:nvPr/>
        </p:nvSpPr>
        <p:spPr bwMode="auto">
          <a:xfrm>
            <a:off x="6084168" y="3861048"/>
            <a:ext cx="1773561" cy="79208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8" name="직사각형 17"/>
          <p:cNvSpPr/>
          <p:nvPr/>
        </p:nvSpPr>
        <p:spPr bwMode="auto">
          <a:xfrm>
            <a:off x="6588224" y="2276872"/>
            <a:ext cx="1773561" cy="576064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실제적용예</a:t>
            </a:r>
            <a:r>
              <a:rPr kumimoji="0" lang="en-US" altLang="ko-KR" sz="1600" b="1" dirty="0" smtClean="0">
                <a:latin typeface="+mn-ea"/>
                <a:ea typeface="+mn-ea"/>
              </a:rPr>
              <a:t>)   TEST_ADM</a:t>
            </a:r>
            <a:r>
              <a:rPr kumimoji="0" lang="ko-KR" altLang="en-US" sz="1600" b="1" dirty="0" smtClean="0">
                <a:latin typeface="+mn-ea"/>
                <a:ea typeface="+mn-ea"/>
              </a:rPr>
              <a:t>그룹사용자중에 사용자관리 화면열람의 기본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등록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r>
              <a:rPr kumimoji="0" lang="ko-KR" altLang="en-US" sz="1600" b="1" dirty="0" smtClean="0">
                <a:latin typeface="+mn-ea"/>
                <a:ea typeface="+mn-ea"/>
              </a:rPr>
              <a:t>과 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조회 권한을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줬을경우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뒤페이지에</a:t>
            </a:r>
            <a:r>
              <a:rPr kumimoji="0" lang="ko-KR" altLang="en-US" sz="1600" b="1" dirty="0" smtClean="0">
                <a:latin typeface="+mn-ea"/>
                <a:ea typeface="+mn-ea"/>
              </a:rPr>
              <a:t> 계속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739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실제적용예</a:t>
            </a:r>
            <a:r>
              <a:rPr kumimoji="0" lang="en-US" altLang="ko-KR" sz="1600" b="1" dirty="0" smtClean="0">
                <a:latin typeface="+mn-ea"/>
                <a:ea typeface="+mn-ea"/>
              </a:rPr>
              <a:t>)   TEST_ADM</a:t>
            </a:r>
            <a:r>
              <a:rPr kumimoji="0" lang="ko-KR" altLang="en-US" sz="1600" b="1" dirty="0" smtClean="0">
                <a:latin typeface="+mn-ea"/>
                <a:ea typeface="+mn-ea"/>
              </a:rPr>
              <a:t>그룹사용자중에 사용자관리 화면열람의 기본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등록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r>
              <a:rPr kumimoji="0" lang="ko-KR" altLang="en-US" sz="1600" b="1" dirty="0" smtClean="0">
                <a:latin typeface="+mn-ea"/>
                <a:ea typeface="+mn-ea"/>
              </a:rPr>
              <a:t>과 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조회 권한을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줬을경우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err="1">
                <a:latin typeface="+mn-ea"/>
              </a:rPr>
              <a:t>뒤페이지에</a:t>
            </a:r>
            <a:r>
              <a:rPr kumimoji="0" lang="ko-KR" altLang="en-US" sz="1600" b="1" dirty="0">
                <a:latin typeface="+mn-ea"/>
              </a:rPr>
              <a:t> </a:t>
            </a:r>
            <a:r>
              <a:rPr kumimoji="0" lang="ko-KR" altLang="en-US" sz="1600" b="1" dirty="0" smtClean="0">
                <a:latin typeface="+mn-ea"/>
              </a:rPr>
              <a:t>계속</a:t>
            </a:r>
            <a:r>
              <a:rPr kumimoji="0" lang="en-US" altLang="ko-KR" sz="1600" b="1" dirty="0" smtClean="0">
                <a:latin typeface="+mn-ea"/>
              </a:rPr>
              <a:t>)</a:t>
            </a: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1412776"/>
            <a:ext cx="6419850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16"/>
          <p:cNvSpPr/>
          <p:nvPr/>
        </p:nvSpPr>
        <p:spPr bwMode="auto">
          <a:xfrm>
            <a:off x="5078245" y="3140968"/>
            <a:ext cx="1509980" cy="79208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4427984" y="3873578"/>
            <a:ext cx="4032448" cy="2003694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기본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등록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권한이 있는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사용자그룹관리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는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진입이 가능하게 활성화 되지만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기본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등록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권한이 없는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화면관리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는 비활성화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되어있다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60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 smtClean="0"/>
              <a:t>4. </a:t>
            </a:r>
            <a:r>
              <a:rPr lang="ko-KR" altLang="en-US" dirty="0" smtClean="0">
                <a:latin typeface="+mn-ea"/>
              </a:rPr>
              <a:t>권한관</a:t>
            </a:r>
            <a:r>
              <a:rPr lang="ko-KR" altLang="en-US" dirty="0">
                <a:latin typeface="+mn-ea"/>
              </a:rPr>
              <a:t>리</a:t>
            </a:r>
            <a:endParaRPr kumimoji="0" lang="ko-KR" altLang="en-US" dirty="0" smtClean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1273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err="1" smtClean="0">
                <a:latin typeface="+mn-ea"/>
                <a:ea typeface="+mn-ea"/>
              </a:rPr>
              <a:t>실제적용예</a:t>
            </a:r>
            <a:r>
              <a:rPr kumimoji="0" lang="en-US" altLang="ko-KR" sz="1600" b="1" dirty="0" smtClean="0">
                <a:latin typeface="+mn-ea"/>
                <a:ea typeface="+mn-ea"/>
              </a:rPr>
              <a:t>)   TEST_ADM</a:t>
            </a:r>
            <a:r>
              <a:rPr kumimoji="0" lang="ko-KR" altLang="en-US" sz="1600" b="1" dirty="0" smtClean="0">
                <a:latin typeface="+mn-ea"/>
                <a:ea typeface="+mn-ea"/>
              </a:rPr>
              <a:t>그룹사용자중에 사용자관리 화면열람의 기본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등록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r>
              <a:rPr kumimoji="0" lang="ko-KR" altLang="en-US" sz="1600" b="1" dirty="0" smtClean="0">
                <a:latin typeface="+mn-ea"/>
                <a:ea typeface="+mn-ea"/>
              </a:rPr>
              <a:t>과 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조회 권한을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줬을경우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화면집입후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55576" y="3263217"/>
            <a:ext cx="4032448" cy="2003694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기본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등록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권한과 조회 권한만 있기 때문에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조회 버튼만 활성화가 되어있다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5" y="2330596"/>
            <a:ext cx="794385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16"/>
          <p:cNvSpPr/>
          <p:nvPr/>
        </p:nvSpPr>
        <p:spPr bwMode="auto">
          <a:xfrm>
            <a:off x="360965" y="2204864"/>
            <a:ext cx="1822673" cy="1079881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401440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dirty="0" smtClean="0">
                <a:latin typeface="+mn-ea"/>
              </a:rPr>
              <a:t>게시판 만들기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6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5593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기본적으로 게시판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만들때</a:t>
            </a:r>
            <a:r>
              <a:rPr kumimoji="0" lang="ko-KR" altLang="en-US" sz="1600" b="1" dirty="0" smtClean="0">
                <a:latin typeface="+mn-ea"/>
                <a:ea typeface="+mn-ea"/>
              </a:rPr>
              <a:t> 규칙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1.</a:t>
            </a:r>
            <a:r>
              <a:rPr kumimoji="0" lang="ko-KR" altLang="en-US" sz="1600" b="1" dirty="0" smtClean="0">
                <a:latin typeface="+mn-ea"/>
                <a:ea typeface="+mn-ea"/>
              </a:rPr>
              <a:t> 각각의 게시판의 </a:t>
            </a:r>
            <a:r>
              <a:rPr kumimoji="0" lang="en-US" altLang="ko-KR" sz="1600" b="1" dirty="0" smtClean="0">
                <a:latin typeface="+mn-ea"/>
                <a:ea typeface="+mn-ea"/>
              </a:rPr>
              <a:t>DB</a:t>
            </a:r>
            <a:r>
              <a:rPr kumimoji="0" lang="ko-KR" altLang="en-US" sz="1600" b="1" dirty="0" smtClean="0">
                <a:latin typeface="+mn-ea"/>
                <a:ea typeface="+mn-ea"/>
              </a:rPr>
              <a:t>는 동일한 테이블에 </a:t>
            </a:r>
            <a:r>
              <a:rPr kumimoji="0" lang="en-US" altLang="ko-KR" sz="1600" b="1" dirty="0" smtClean="0">
                <a:latin typeface="+mn-ea"/>
                <a:ea typeface="+mn-ea"/>
              </a:rPr>
              <a:t>GROUP</a:t>
            </a:r>
            <a:r>
              <a:rPr kumimoji="0" lang="ko-KR" altLang="en-US" sz="1600" b="1" dirty="0" smtClean="0">
                <a:latin typeface="+mn-ea"/>
                <a:ea typeface="+mn-ea"/>
              </a:rPr>
              <a:t>명만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다르게하여</a:t>
            </a:r>
            <a:r>
              <a:rPr kumimoji="0" lang="ko-KR" altLang="en-US" sz="1600" b="1" dirty="0" smtClean="0">
                <a:latin typeface="+mn-ea"/>
                <a:ea typeface="+mn-ea"/>
              </a:rPr>
              <a:t> 사용한다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  예를 들어 공지사항은 </a:t>
            </a:r>
            <a:r>
              <a:rPr kumimoji="0" lang="en-US" altLang="ko-KR" sz="1600" b="1" dirty="0" smtClean="0">
                <a:latin typeface="+mn-ea"/>
                <a:ea typeface="+mn-ea"/>
              </a:rPr>
              <a:t>NOTICE , </a:t>
            </a:r>
            <a:r>
              <a:rPr kumimoji="0" lang="ko-KR" altLang="en-US" sz="1600" b="1" dirty="0" smtClean="0">
                <a:latin typeface="+mn-ea"/>
                <a:ea typeface="+mn-ea"/>
              </a:rPr>
              <a:t>자유게시판은 </a:t>
            </a:r>
            <a:r>
              <a:rPr kumimoji="0" lang="en-US" altLang="ko-KR" sz="1600" b="1" dirty="0" smtClean="0">
                <a:latin typeface="+mn-ea"/>
                <a:ea typeface="+mn-ea"/>
              </a:rPr>
              <a:t>FREE </a:t>
            </a:r>
            <a:r>
              <a:rPr kumimoji="0" lang="ko-KR" altLang="en-US" sz="1600" b="1" dirty="0" smtClean="0">
                <a:latin typeface="+mn-ea"/>
                <a:ea typeface="+mn-ea"/>
              </a:rPr>
              <a:t>라고 </a:t>
            </a:r>
            <a:r>
              <a:rPr kumimoji="0" lang="en-US" altLang="ko-KR" sz="1600" b="1" dirty="0" smtClean="0">
                <a:latin typeface="+mn-ea"/>
                <a:ea typeface="+mn-ea"/>
              </a:rPr>
              <a:t>GROUP</a:t>
            </a:r>
            <a:r>
              <a:rPr kumimoji="0" lang="ko-KR" altLang="en-US" sz="1600" b="1" dirty="0" smtClean="0">
                <a:latin typeface="+mn-ea"/>
                <a:ea typeface="+mn-ea"/>
              </a:rPr>
              <a:t>명을 명명 했다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2. </a:t>
            </a:r>
            <a:r>
              <a:rPr kumimoji="0" lang="ko-KR" altLang="en-US" sz="1600" b="1" dirty="0" smtClean="0">
                <a:latin typeface="+mn-ea"/>
                <a:ea typeface="+mn-ea"/>
              </a:rPr>
              <a:t>기본적인 게시판 구조는 먼저 목록을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볼수있는</a:t>
            </a:r>
            <a:r>
              <a:rPr kumimoji="0" lang="ko-KR" altLang="en-US" sz="1600" b="1" dirty="0" smtClean="0">
                <a:latin typeface="+mn-ea"/>
                <a:ea typeface="+mn-ea"/>
              </a:rPr>
              <a:t> 목록리스트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파일하나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입력할수있는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입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력화면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파일하나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ko-KR" altLang="en-US" sz="1600" b="1" dirty="0" smtClean="0">
                <a:latin typeface="+mn-ea"/>
                <a:ea typeface="+mn-ea"/>
              </a:rPr>
              <a:t>상세화면을 보는 상세파일하나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수정을할수있는</a:t>
            </a:r>
            <a:r>
              <a:rPr kumimoji="0" lang="ko-KR" altLang="en-US" sz="1600" b="1" dirty="0" smtClean="0">
                <a:latin typeface="+mn-ea"/>
                <a:ea typeface="+mn-ea"/>
              </a:rPr>
              <a:t> 수정파일 총 </a:t>
            </a:r>
            <a:r>
              <a:rPr kumimoji="0" lang="en-US" altLang="ko-KR" sz="1600" b="1" dirty="0" smtClean="0">
                <a:latin typeface="+mn-ea"/>
                <a:ea typeface="+mn-ea"/>
              </a:rPr>
              <a:t>4</a:t>
            </a:r>
            <a:r>
              <a:rPr kumimoji="0" lang="ko-KR" altLang="en-US" sz="1600" b="1" dirty="0" smtClean="0">
                <a:latin typeface="+mn-ea"/>
                <a:ea typeface="+mn-ea"/>
              </a:rPr>
              <a:t>개의 파일이 필요하다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즉 공지사항용 파일 </a:t>
            </a:r>
            <a:r>
              <a:rPr kumimoji="0" lang="en-US" altLang="ko-KR" sz="1600" b="1" dirty="0" smtClean="0">
                <a:latin typeface="+mn-ea"/>
                <a:ea typeface="+mn-ea"/>
              </a:rPr>
              <a:t>4</a:t>
            </a:r>
            <a:r>
              <a:rPr kumimoji="0" lang="ko-KR" altLang="en-US" sz="1600" b="1" dirty="0" smtClean="0">
                <a:latin typeface="+mn-ea"/>
                <a:ea typeface="+mn-ea"/>
              </a:rPr>
              <a:t>개 자유게시판용 파일 </a:t>
            </a:r>
            <a:r>
              <a:rPr kumimoji="0" lang="en-US" altLang="ko-KR" sz="1600" b="1" dirty="0" smtClean="0">
                <a:latin typeface="+mn-ea"/>
                <a:ea typeface="+mn-ea"/>
              </a:rPr>
              <a:t>4</a:t>
            </a:r>
            <a:r>
              <a:rPr kumimoji="0" lang="ko-KR" altLang="en-US" sz="1600" b="1" dirty="0" smtClean="0">
                <a:latin typeface="+mn-ea"/>
                <a:ea typeface="+mn-ea"/>
              </a:rPr>
              <a:t>개 </a:t>
            </a:r>
            <a:r>
              <a:rPr kumimoji="0" lang="en-US" altLang="ko-KR" sz="1600" b="1" dirty="0" smtClean="0">
                <a:latin typeface="+mn-ea"/>
                <a:ea typeface="+mn-ea"/>
              </a:rPr>
              <a:t>, </a:t>
            </a:r>
            <a:r>
              <a:rPr kumimoji="0" lang="ko-KR" altLang="en-US" sz="1600" b="1" dirty="0" smtClean="0">
                <a:latin typeface="+mn-ea"/>
                <a:ea typeface="+mn-ea"/>
              </a:rPr>
              <a:t>각각의 용도에 맞게 파일</a:t>
            </a:r>
            <a:r>
              <a:rPr kumimoji="0" lang="en-US" altLang="ko-KR" sz="1600" b="1" dirty="0" smtClean="0">
                <a:latin typeface="+mn-ea"/>
                <a:ea typeface="+mn-ea"/>
              </a:rPr>
              <a:t>4</a:t>
            </a:r>
            <a:r>
              <a:rPr kumimoji="0" lang="ko-KR" altLang="en-US" sz="1600" b="1" dirty="0" smtClean="0">
                <a:latin typeface="+mn-ea"/>
                <a:ea typeface="+mn-ea"/>
              </a:rPr>
              <a:t>개씩 기본적으로 필요하며 용도에 맞게 수정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변경될수</a:t>
            </a:r>
            <a:r>
              <a:rPr kumimoji="0" lang="ko-KR" altLang="en-US" sz="1600" b="1" dirty="0" smtClean="0">
                <a:latin typeface="+mn-ea"/>
                <a:ea typeface="+mn-ea"/>
              </a:rPr>
              <a:t> 있다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158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5695950" cy="5442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250825" y="144463"/>
            <a:ext cx="8332788" cy="331787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 err="1"/>
              <a:t>게시판만들기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실제로 만들어 가며 설명하겠음</a:t>
            </a:r>
            <a:r>
              <a:rPr kumimoji="0" lang="en-US" altLang="ko-KR" sz="1600" b="1" dirty="0" smtClean="0">
                <a:latin typeface="+mn-ea"/>
                <a:ea typeface="+mn-ea"/>
              </a:rPr>
              <a:t>.(</a:t>
            </a:r>
            <a:r>
              <a:rPr kumimoji="0" lang="ko-KR" altLang="en-US" sz="1600" b="1" dirty="0" smtClean="0">
                <a:latin typeface="+mn-ea"/>
                <a:ea typeface="+mn-ea"/>
              </a:rPr>
              <a:t>자유게시판을 만들어본다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.)</a:t>
            </a: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1125979" y="1400512"/>
            <a:ext cx="7056784" cy="5549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SsSys</a:t>
            </a:r>
            <a:r>
              <a:rPr kumimoji="0" lang="ko-KR" altLang="en-US" sz="1050" dirty="0" smtClean="0"/>
              <a:t>는 개발 그룹 </a:t>
            </a:r>
            <a:r>
              <a:rPr kumimoji="0" lang="ko-KR" altLang="en-US" sz="1050" dirty="0" err="1" smtClean="0"/>
              <a:t>폴더명</a:t>
            </a: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 bwMode="auto">
          <a:xfrm>
            <a:off x="899591" y="2276872"/>
            <a:ext cx="7849121" cy="164100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ko-KR" altLang="en-US" sz="1050" dirty="0" smtClean="0"/>
              <a:t>파일을 </a:t>
            </a:r>
            <a:r>
              <a:rPr kumimoji="0" lang="en-US" altLang="ko-KR" sz="1050" dirty="0"/>
              <a:t> </a:t>
            </a:r>
            <a:r>
              <a:rPr kumimoji="0" lang="en-US" altLang="ko-KR" sz="1050" dirty="0" smtClean="0"/>
              <a:t>copy &amp; </a:t>
            </a:r>
            <a:r>
              <a:rPr kumimoji="0" lang="en-US" altLang="ko-KR" sz="1050" dirty="0" err="1" smtClean="0"/>
              <a:t>patse</a:t>
            </a:r>
            <a:r>
              <a:rPr kumimoji="0" lang="ko-KR" altLang="en-US" sz="1050" dirty="0" smtClean="0"/>
              <a:t>로 만들어준다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  <p:sp>
        <p:nvSpPr>
          <p:cNvPr id="11" name="직사각형 10"/>
          <p:cNvSpPr/>
          <p:nvPr/>
        </p:nvSpPr>
        <p:spPr>
          <a:xfrm>
            <a:off x="2926179" y="3927229"/>
            <a:ext cx="5256584" cy="2721128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Xml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개와 각각의 스크립트 파일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 총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8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개의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파일로 구성된다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이름 명명 규칙 </a:t>
            </a:r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 +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해당게시판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명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 Board</a:t>
            </a:r>
          </a:p>
          <a:p>
            <a:endParaRPr lang="en-US" altLang="ko-KR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예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ko-KR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공지사항 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editNotiBoard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게시판목록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editNotiBoardDetail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게시판상세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editNotiBoardInsert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게시판글추가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</a:t>
            </a:r>
            <a:r>
              <a:rPr lang="en-US" altLang="ko-KR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editNotiBoardUpdate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게시판글수</a:t>
            </a:r>
            <a:r>
              <a:rPr lang="ko-KR" alt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정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86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</a:rPr>
              <a:t>4</a:t>
            </a:r>
            <a:r>
              <a:rPr kumimoji="0" lang="ko-KR" altLang="en-US" sz="1600" b="1" dirty="0" smtClean="0">
                <a:latin typeface="+mn-ea"/>
              </a:rPr>
              <a:t>개 </a:t>
            </a:r>
            <a:r>
              <a:rPr kumimoji="0" lang="en-US" altLang="ko-KR" sz="1600" b="1" dirty="0" smtClean="0">
                <a:latin typeface="+mn-ea"/>
              </a:rPr>
              <a:t>xml</a:t>
            </a:r>
            <a:r>
              <a:rPr kumimoji="0" lang="ko-KR" altLang="en-US" sz="1600" b="1" dirty="0" smtClean="0">
                <a:latin typeface="+mn-ea"/>
              </a:rPr>
              <a:t>파일의  </a:t>
            </a:r>
            <a:r>
              <a:rPr kumimoji="0" lang="ko-KR" altLang="en-US" sz="1600" b="1" dirty="0" err="1">
                <a:latin typeface="+mn-ea"/>
              </a:rPr>
              <a:t>체크한부분의</a:t>
            </a:r>
            <a:r>
              <a:rPr kumimoji="0" lang="ko-KR" altLang="en-US" sz="1600" b="1" dirty="0">
                <a:latin typeface="+mn-ea"/>
              </a:rPr>
              <a:t> 이름을 </a:t>
            </a:r>
            <a:r>
              <a:rPr kumimoji="0" lang="ko-KR" altLang="en-US" sz="1600" b="1" dirty="0" smtClean="0">
                <a:latin typeface="+mn-ea"/>
              </a:rPr>
              <a:t>해당 파일명</a:t>
            </a:r>
            <a:r>
              <a:rPr kumimoji="0" lang="en-US" altLang="ko-KR" sz="1600" b="1" dirty="0" smtClean="0">
                <a:latin typeface="+mn-ea"/>
              </a:rPr>
              <a:t>.</a:t>
            </a:r>
            <a:r>
              <a:rPr kumimoji="0" lang="en-US" altLang="ko-KR" sz="1600" b="1" dirty="0">
                <a:latin typeface="+mn-ea"/>
              </a:rPr>
              <a:t>js</a:t>
            </a:r>
            <a:r>
              <a:rPr kumimoji="0" lang="ko-KR" altLang="en-US" sz="1600" b="1" dirty="0">
                <a:latin typeface="+mn-ea"/>
              </a:rPr>
              <a:t>로 바꿔준다</a:t>
            </a:r>
            <a:r>
              <a:rPr kumimoji="0" lang="en-US" altLang="ko-KR" sz="1600" b="1" dirty="0" smtClean="0">
                <a:latin typeface="+mn-ea"/>
              </a:rPr>
              <a:t>. (</a:t>
            </a:r>
            <a:r>
              <a:rPr kumimoji="0" lang="ko-KR" altLang="en-US" sz="1600" b="1" dirty="0" err="1" smtClean="0">
                <a:latin typeface="+mn-ea"/>
              </a:rPr>
              <a:t>이거안하면</a:t>
            </a:r>
            <a:r>
              <a:rPr kumimoji="0" lang="ko-KR" altLang="en-US" sz="1600" b="1" dirty="0" smtClean="0">
                <a:latin typeface="+mn-ea"/>
              </a:rPr>
              <a:t> 게시판실행이 이상하게 되니 주의해서 </a:t>
            </a:r>
            <a:r>
              <a:rPr kumimoji="0" lang="ko-KR" altLang="en-US" sz="1600" b="1" dirty="0" err="1" smtClean="0">
                <a:latin typeface="+mn-ea"/>
              </a:rPr>
              <a:t>꼭할것</a:t>
            </a:r>
            <a:r>
              <a:rPr kumimoji="0" lang="en-US" altLang="ko-KR" sz="1600" b="1" dirty="0" smtClean="0">
                <a:latin typeface="+mn-ea"/>
              </a:rPr>
              <a:t>)</a:t>
            </a:r>
            <a:endParaRPr kumimoji="0" lang="en-US" altLang="ko-KR" sz="1600" b="1" dirty="0">
              <a:latin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1" name="Rectangle 187"/>
          <p:cNvSpPr txBox="1">
            <a:spLocks noChangeArrowheads="1"/>
          </p:cNvSpPr>
          <p:nvPr/>
        </p:nvSpPr>
        <p:spPr bwMode="auto">
          <a:xfrm>
            <a:off x="179512" y="2050934"/>
            <a:ext cx="8784976" cy="84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96752"/>
            <a:ext cx="800742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9"/>
          <p:cNvSpPr/>
          <p:nvPr/>
        </p:nvSpPr>
        <p:spPr bwMode="auto">
          <a:xfrm>
            <a:off x="2087216" y="2204864"/>
            <a:ext cx="2700808" cy="50405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</p:spTree>
    <p:extLst>
      <p:ext uri="{BB962C8B-B14F-4D97-AF65-F5344CB8AC3E}">
        <p14:creationId xmlns:p14="http://schemas.microsoft.com/office/powerpoint/2010/main" val="2538130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4" y="1213754"/>
            <a:ext cx="27336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  <p:sp>
        <p:nvSpPr>
          <p:cNvPr id="9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editFreeBoard.xml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ko-KR" altLang="en-US" sz="11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만질부분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개의 파일과 공통영역도 있다</a:t>
            </a:r>
            <a:r>
              <a:rPr lang="en-US" altLang="ko-KR" sz="11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.)</a:t>
            </a:r>
            <a:endParaRPr kumimoji="0" lang="en-US" altLang="ko-KR" sz="1100" b="1" dirty="0" smtClean="0">
              <a:latin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100" b="1" dirty="0" smtClean="0">
                <a:latin typeface="+mn-ea"/>
              </a:rPr>
              <a:t>4</a:t>
            </a:r>
            <a:r>
              <a:rPr kumimoji="0" lang="ko-KR" altLang="en-US" sz="1100" b="1" dirty="0" smtClean="0">
                <a:latin typeface="+mn-ea"/>
              </a:rPr>
              <a:t>개 </a:t>
            </a:r>
            <a:r>
              <a:rPr kumimoji="0" lang="en-US" altLang="ko-KR" sz="1100" b="1" dirty="0" smtClean="0">
                <a:latin typeface="+mn-ea"/>
              </a:rPr>
              <a:t>xml</a:t>
            </a:r>
            <a:r>
              <a:rPr kumimoji="0" lang="ko-KR" altLang="en-US" sz="1100" b="1" dirty="0" smtClean="0">
                <a:latin typeface="+mn-ea"/>
              </a:rPr>
              <a:t>파일의  </a:t>
            </a:r>
            <a:r>
              <a:rPr kumimoji="0" lang="ko-KR" altLang="en-US" sz="1100" b="1" dirty="0" err="1">
                <a:latin typeface="+mn-ea"/>
              </a:rPr>
              <a:t>체크한부분의</a:t>
            </a:r>
            <a:r>
              <a:rPr kumimoji="0" lang="ko-KR" altLang="en-US" sz="1100" b="1" dirty="0">
                <a:latin typeface="+mn-ea"/>
              </a:rPr>
              <a:t> 이름을 </a:t>
            </a:r>
            <a:r>
              <a:rPr kumimoji="0" lang="ko-KR" altLang="en-US" sz="1100" b="1" dirty="0" smtClean="0">
                <a:latin typeface="+mn-ea"/>
              </a:rPr>
              <a:t>해당 파일명</a:t>
            </a:r>
            <a:r>
              <a:rPr kumimoji="0" lang="en-US" altLang="ko-KR" sz="1100" b="1" dirty="0" smtClean="0">
                <a:latin typeface="+mn-ea"/>
              </a:rPr>
              <a:t>.</a:t>
            </a:r>
            <a:r>
              <a:rPr kumimoji="0" lang="en-US" altLang="ko-KR" sz="1100" b="1" dirty="0">
                <a:latin typeface="+mn-ea"/>
              </a:rPr>
              <a:t>js</a:t>
            </a:r>
            <a:r>
              <a:rPr kumimoji="0" lang="ko-KR" altLang="en-US" sz="1100" b="1" dirty="0">
                <a:latin typeface="+mn-ea"/>
              </a:rPr>
              <a:t>로 바꿔준다</a:t>
            </a:r>
            <a:r>
              <a:rPr kumimoji="0" lang="en-US" altLang="ko-KR" sz="1100" b="1" dirty="0" smtClean="0">
                <a:latin typeface="+mn-ea"/>
              </a:rPr>
              <a:t>. (</a:t>
            </a:r>
            <a:r>
              <a:rPr kumimoji="0" lang="ko-KR" altLang="en-US" sz="1100" b="1" dirty="0" err="1" smtClean="0">
                <a:latin typeface="+mn-ea"/>
              </a:rPr>
              <a:t>이거안하면</a:t>
            </a:r>
            <a:r>
              <a:rPr kumimoji="0" lang="ko-KR" altLang="en-US" sz="1100" b="1" dirty="0" smtClean="0">
                <a:latin typeface="+mn-ea"/>
              </a:rPr>
              <a:t> 게시판실행이 이상하게 되니 주의해서 </a:t>
            </a:r>
            <a:r>
              <a:rPr kumimoji="0" lang="ko-KR" altLang="en-US" sz="1100" b="1" dirty="0" err="1" smtClean="0">
                <a:latin typeface="+mn-ea"/>
              </a:rPr>
              <a:t>꼭할것</a:t>
            </a:r>
            <a:r>
              <a:rPr kumimoji="0" lang="en-US" altLang="ko-KR" sz="1100" b="1" dirty="0" smtClean="0">
                <a:latin typeface="+mn-ea"/>
              </a:rPr>
              <a:t>)</a:t>
            </a:r>
            <a:endParaRPr kumimoji="0" lang="en-US" altLang="ko-KR" sz="1100" b="1" dirty="0">
              <a:latin typeface="+mn-ea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0" name="직사각형 9"/>
          <p:cNvSpPr/>
          <p:nvPr/>
        </p:nvSpPr>
        <p:spPr bwMode="auto">
          <a:xfrm>
            <a:off x="489014" y="2204864"/>
            <a:ext cx="7251338" cy="50405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smtClean="0"/>
              <a:t>Form</a:t>
            </a:r>
            <a:r>
              <a:rPr kumimoji="0" lang="ko-KR" altLang="en-US" sz="1050" dirty="0" smtClean="0"/>
              <a:t>의 </a:t>
            </a:r>
            <a:r>
              <a:rPr kumimoji="0" lang="en-US" altLang="ko-KR" sz="1050" dirty="0" smtClean="0"/>
              <a:t>ID</a:t>
            </a:r>
            <a:r>
              <a:rPr kumimoji="0" lang="ko-KR" altLang="en-US" sz="1050" dirty="0" smtClean="0"/>
              <a:t>를 각각 파일명과 일치시켜준다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77" y="3429000"/>
            <a:ext cx="40576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641414" y="3356992"/>
            <a:ext cx="7963034" cy="50405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r>
              <a:rPr kumimoji="0" lang="en-US" altLang="ko-KR" sz="1050" dirty="0" err="1" smtClean="0"/>
              <a:t>OnLoadCompleted</a:t>
            </a:r>
            <a:r>
              <a:rPr kumimoji="0" lang="ko-KR" altLang="en-US" sz="1050" dirty="0" smtClean="0"/>
              <a:t>의 </a:t>
            </a:r>
            <a:r>
              <a:rPr kumimoji="0" lang="ko-KR" altLang="en-US" sz="1050" dirty="0" err="1" smtClean="0"/>
              <a:t>함수명을</a:t>
            </a:r>
            <a:r>
              <a:rPr kumimoji="0" lang="ko-KR" altLang="en-US" sz="1050" dirty="0" smtClean="0"/>
              <a:t>  </a:t>
            </a:r>
            <a:r>
              <a:rPr kumimoji="0" lang="en-US" altLang="ko-KR" sz="1050" dirty="0" err="1" smtClean="0"/>
              <a:t>formId</a:t>
            </a:r>
            <a:r>
              <a:rPr kumimoji="0" lang="ko-KR" altLang="en-US" sz="1050" dirty="0" smtClean="0"/>
              <a:t>와 일치시켜준다</a:t>
            </a:r>
            <a:r>
              <a:rPr kumimoji="0" lang="en-US" altLang="ko-KR" sz="1050" dirty="0" smtClean="0"/>
              <a:t>.</a:t>
            </a:r>
            <a:endParaRPr kumimoji="0" lang="ko-KR" altLang="en-US" sz="1050" dirty="0" smtClean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74" y="5301208"/>
            <a:ext cx="874871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직사각형 13"/>
          <p:cNvSpPr/>
          <p:nvPr/>
        </p:nvSpPr>
        <p:spPr bwMode="auto">
          <a:xfrm>
            <a:off x="6732240" y="5463517"/>
            <a:ext cx="2265047" cy="50405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7" name="직사각형 16"/>
          <p:cNvSpPr/>
          <p:nvPr/>
        </p:nvSpPr>
        <p:spPr>
          <a:xfrm>
            <a:off x="2267744" y="5937737"/>
            <a:ext cx="6749200" cy="803631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editFreeBoard.xml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파일의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BORD_GRUP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가 게시판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그룹명인데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각 게시판의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GROUP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명을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직접입력해준다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r"/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자유게시판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그룹명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FREE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76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55" y="1191803"/>
            <a:ext cx="446722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4" name="직사각형 13"/>
          <p:cNvSpPr/>
          <p:nvPr/>
        </p:nvSpPr>
        <p:spPr bwMode="auto">
          <a:xfrm>
            <a:off x="2141025" y="1601762"/>
            <a:ext cx="2808312" cy="684077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7" name="직사각형 16"/>
          <p:cNvSpPr/>
          <p:nvPr/>
        </p:nvSpPr>
        <p:spPr>
          <a:xfrm>
            <a:off x="2789096" y="2282959"/>
            <a:ext cx="3871135" cy="40181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게시글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입력화면 파일명과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그룹명을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적어준다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22" y="3077927"/>
            <a:ext cx="7121103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직사각형 14"/>
          <p:cNvSpPr/>
          <p:nvPr/>
        </p:nvSpPr>
        <p:spPr bwMode="auto">
          <a:xfrm>
            <a:off x="2190327" y="3780005"/>
            <a:ext cx="2808312" cy="342039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4884280" y="3548065"/>
            <a:ext cx="3096344" cy="40181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게시글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상세로 넘어갈 파일명을 적어준다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editFreeBoard.xml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만질부분</a:t>
            </a:r>
            <a:endParaRPr kumimoji="0" lang="en-US" altLang="ko-KR" sz="1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115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84" y="1340768"/>
            <a:ext cx="68865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37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4" name="직사각형 13"/>
          <p:cNvSpPr/>
          <p:nvPr/>
        </p:nvSpPr>
        <p:spPr bwMode="auto">
          <a:xfrm>
            <a:off x="1761307" y="1556793"/>
            <a:ext cx="2808312" cy="36004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7" name="직사각형 16"/>
          <p:cNvSpPr/>
          <p:nvPr/>
        </p:nvSpPr>
        <p:spPr>
          <a:xfrm>
            <a:off x="4067944" y="1278518"/>
            <a:ext cx="3096344" cy="40181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수정화면 파일명을 적어준다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editFreeBoardDetail.xml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만질부분</a:t>
            </a:r>
            <a:endParaRPr kumimoji="0" lang="en-US" altLang="ko-KR" sz="1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54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5</a:t>
            </a:r>
            <a:r>
              <a:rPr kumimoji="0" lang="en-US" altLang="ko-KR" dirty="0" smtClean="0"/>
              <a:t>. </a:t>
            </a:r>
            <a:r>
              <a:rPr kumimoji="0" lang="ko-KR" altLang="en-US" dirty="0" err="1" smtClean="0"/>
              <a:t>게시판만들기</a:t>
            </a:r>
            <a:endParaRPr kumimoji="0" lang="ko-KR" altLang="en-US" dirty="0" smtClean="0"/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62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editFreeBoardInsert.xml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만질부분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없음</a:t>
            </a:r>
            <a:endParaRPr lang="en-US" altLang="ko-KR" sz="14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editFreeBoardUpdate.xml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만질부분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없음</a:t>
            </a:r>
            <a:endParaRPr kumimoji="0" lang="en-US" altLang="ko-KR" sz="1400" b="1" dirty="0">
              <a:latin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400" b="1" dirty="0" smtClean="0">
              <a:latin typeface="+mn-ea"/>
            </a:endParaRP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535292" y="2996952"/>
            <a:ext cx="8375650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가이드에서 제시한 부분만 바꾸면 </a:t>
            </a:r>
            <a:r>
              <a:rPr lang="ko-KR" altLang="en-US" sz="14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게시판하나</a:t>
            </a:r>
            <a:r>
              <a:rPr lang="ko-KR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후딱 만들어 진다</a:t>
            </a: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 </a:t>
            </a:r>
            <a:endParaRPr kumimoji="0" lang="en-US" altLang="ko-KR" sz="14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990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dirty="0" smtClean="0">
                <a:latin typeface="+mn-ea"/>
              </a:rPr>
              <a:t>파일</a:t>
            </a:r>
            <a:r>
              <a:rPr lang="en-US" altLang="ko-KR" sz="3600" dirty="0" smtClean="0">
                <a:latin typeface="+mn-ea"/>
              </a:rPr>
              <a:t>_</a:t>
            </a:r>
            <a:r>
              <a:rPr lang="ko-KR" altLang="en-US" sz="3600" dirty="0" smtClean="0">
                <a:latin typeface="+mn-ea"/>
              </a:rPr>
              <a:t>업로드</a:t>
            </a:r>
            <a:r>
              <a:rPr lang="en-US" altLang="ko-KR" sz="3600" dirty="0" smtClean="0">
                <a:latin typeface="+mn-ea"/>
              </a:rPr>
              <a:t>_</a:t>
            </a:r>
            <a:r>
              <a:rPr lang="ko-KR" altLang="en-US" sz="3600" dirty="0" smtClean="0">
                <a:latin typeface="+mn-ea"/>
              </a:rPr>
              <a:t>다운로드구현</a:t>
            </a: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92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62950" cy="33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400" b="1" dirty="0" smtClean="0">
                <a:latin typeface="+mn-ea"/>
              </a:rPr>
              <a:t>33</a:t>
            </a:r>
            <a:r>
              <a:rPr kumimoji="0" lang="ko-KR" altLang="en-US" sz="1400" b="1" dirty="0" smtClean="0">
                <a:latin typeface="+mn-ea"/>
              </a:rPr>
              <a:t>번 슬라이드의 게시판파일들에 이어서 파일 업로드 다운로드 기능을 </a:t>
            </a:r>
            <a:r>
              <a:rPr kumimoji="0" lang="ko-KR" altLang="en-US" sz="1400" b="1" dirty="0" err="1" smtClean="0">
                <a:latin typeface="+mn-ea"/>
              </a:rPr>
              <a:t>붙혀본다</a:t>
            </a:r>
            <a:r>
              <a:rPr kumimoji="0" lang="en-US" altLang="ko-KR" sz="1400" b="1" dirty="0" smtClean="0">
                <a:latin typeface="+mn-ea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3225" y="1084094"/>
            <a:ext cx="4304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1.editNotiBoardInsert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입력화면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7715250" cy="456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 bwMode="auto">
          <a:xfrm>
            <a:off x="5076056" y="1556792"/>
            <a:ext cx="1800199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5014865" y="1116202"/>
            <a:ext cx="52457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박스를 만든다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(visible = false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세팅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539552" y="4797153"/>
            <a:ext cx="7560840" cy="100811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539552" y="4395336"/>
            <a:ext cx="7098196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Div_sub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파일업로드다운로드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Ui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컴포넌트이다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660209" y="5805265"/>
            <a:ext cx="594594" cy="32122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3851920" y="6126485"/>
            <a:ext cx="6912768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파일업르드에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필요한 컴포넌트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13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41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397126" y="563043"/>
            <a:ext cx="4304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1.editNotiBoardInsert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입력화면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73062" y="932375"/>
            <a:ext cx="8519417" cy="5520961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 변수 맨 상단에 복사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::jsCommFile.js";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::jsCommFuncSub1.js";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P_FILE_LOAD_KEY;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P_FILE_LOAD_GRID_ID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onLoadComplete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 넣어준다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Div_sub_2.btn_save_file_board.Visible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파일저장버튼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Div_sub_2.btn_down_file_board.Visible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파일다운로드버튼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콜백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함수 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callbackBorde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trid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ErrorMsg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){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 =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SubStr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(trid,0,4);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if( id == "save" )	{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if(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 0 )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alert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전송 실패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" +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ErrorMsg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::" +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 //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실패시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Messasge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else{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파일업로드			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Div_sub_2.btn_save_file_board.click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Parent.btn_sel_OnClick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alert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등록되었습니다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.");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Close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}//else	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}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2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42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397126" y="563043"/>
            <a:ext cx="4304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1.editNotiBoardInsert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입력화면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73062" y="932375"/>
            <a:ext cx="8519417" cy="249662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 업로드 공통함수 추가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파일업로드 공통함수에서 호출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.(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gfn_openFileLoad,gfn_SaveFileLoad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fn_getFileLoadKey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obj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P_FILE_LOAD_KEY =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edit_document_no.Value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P_FILE_LOAD_GRID_ID = Div_sub_2.grd_fileInfoBoard;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16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1453426"/>
            <a:ext cx="8332788" cy="4924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43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62950" cy="33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400" b="1" dirty="0" smtClean="0">
                <a:latin typeface="+mn-ea"/>
              </a:rPr>
              <a:t>33</a:t>
            </a:r>
            <a:r>
              <a:rPr kumimoji="0" lang="ko-KR" altLang="en-US" sz="1400" b="1" dirty="0" smtClean="0">
                <a:latin typeface="+mn-ea"/>
              </a:rPr>
              <a:t>번 슬라이드의 게시판파일들에 이어서 파일 업로드 다운로드 기능을 </a:t>
            </a:r>
            <a:r>
              <a:rPr kumimoji="0" lang="ko-KR" altLang="en-US" sz="1400" b="1" dirty="0" err="1" smtClean="0">
                <a:latin typeface="+mn-ea"/>
              </a:rPr>
              <a:t>붙혀본다</a:t>
            </a:r>
            <a:r>
              <a:rPr kumimoji="0" lang="en-US" altLang="ko-KR" sz="1400" b="1" dirty="0" smtClean="0">
                <a:latin typeface="+mn-ea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3225" y="1084094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1.editNotiBoardUpdate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수정화면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5652120" y="1518018"/>
            <a:ext cx="1800199" cy="326806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5334622" y="1084094"/>
            <a:ext cx="52457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박스를 만든다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(visible = false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세팅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539552" y="5049065"/>
            <a:ext cx="8064896" cy="100811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508604" y="4636840"/>
            <a:ext cx="7098196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Div_sub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파일업로드다운로드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Ui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컴포넌트이다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012206" y="6057177"/>
            <a:ext cx="594594" cy="32122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3853119" y="6378397"/>
            <a:ext cx="6912768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파일업르드에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필요한 컴포넌트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8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44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397126" y="563043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1.editNotiBoardUpdate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수정화면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73062" y="932375"/>
            <a:ext cx="8519417" cy="5520961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 변수 맨 상단에 복사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::jsCommFile.js";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::jsCommFuncSub1.js";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P_FILE_LOAD_KEY;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P_FILE_LOAD_GRID_ID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onLoadComplete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 넣어준다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Div_sub_2.btn_del_file.Visible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파일삭제버튼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Div_sub_2.btn_save_file_board.Visible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파일저장버튼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Div_sub_2.btn_down_file_board.Visible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파일다운로드버튼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Div_sub_2.btn_del_file_db.Visible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true; //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파일삭제버튼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3.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업로드 공통함수 추가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파일업로드 공통함수에서 호출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.(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gfn_openFileLoad,gfn_SaveFileLoad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fn_getFileLoadKey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obj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P_FILE_LOAD_KEY =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edit_document_no.Value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P_FILE_LOAD_GRID_ID = Div_sub_2.grd_fileInfoBoard;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47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45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397126" y="563043"/>
            <a:ext cx="448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1.editNotiBoardUpdate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수정화면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73062" y="932375"/>
            <a:ext cx="8519417" cy="501690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4.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CallBack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함수 등록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callbackBordeUpdate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trid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ErrorMsg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){	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 =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SubStr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(trid,0,4);		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if( id == "save" )	{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if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&lt; 0 )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alert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전송 실패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" +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ErrorMsg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::" +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ErrorCode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 //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실패시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Messasge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else{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파일업로드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edit_document_no.Value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BORD_NO;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Div_sub_2.btn_save_file_board.click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//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데이터셋에서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삭제된 파일만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제거한다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http.Sync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true;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Transaction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deleteBordeFile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","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wvanQuery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::common/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deleteBordeFile.action","input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=file_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Info:u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","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out_ds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=output","","");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http.Sync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							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alert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("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성공적으로 전송했습니다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."); // </a:t>
            </a:r>
            <a:r>
              <a:rPr lang="ko-KR" altLang="en-US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성공시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Message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			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</a:p>
          <a:p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//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Close();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}//else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}	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}//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callbackBordeUpdate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7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556792"/>
            <a:ext cx="8362949" cy="4910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46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1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62950" cy="337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400" b="1" dirty="0" smtClean="0">
                <a:latin typeface="+mn-ea"/>
              </a:rPr>
              <a:t>33</a:t>
            </a:r>
            <a:r>
              <a:rPr kumimoji="0" lang="ko-KR" altLang="en-US" sz="1400" b="1" dirty="0" smtClean="0">
                <a:latin typeface="+mn-ea"/>
              </a:rPr>
              <a:t>번 슬라이드의 게시판파일들에 이어서 파일 업로드 다운로드 기능을 </a:t>
            </a:r>
            <a:r>
              <a:rPr kumimoji="0" lang="ko-KR" altLang="en-US" sz="1400" b="1" dirty="0" err="1" smtClean="0">
                <a:latin typeface="+mn-ea"/>
              </a:rPr>
              <a:t>붙혀본다</a:t>
            </a:r>
            <a:r>
              <a:rPr kumimoji="0" lang="en-US" altLang="ko-KR" sz="1400" b="1" dirty="0" smtClean="0">
                <a:latin typeface="+mn-ea"/>
              </a:rPr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03225" y="1084094"/>
            <a:ext cx="4304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1.editNotiBoardInsert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상세화면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6935813" y="2060848"/>
            <a:ext cx="1800199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6927416" y="1659032"/>
            <a:ext cx="52457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Edit_document_no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edit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박스를 만든다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(visible = false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세팅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539552" y="5118373"/>
            <a:ext cx="7992888" cy="1008112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500962" y="4670522"/>
            <a:ext cx="7098196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Div_sub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파일업로드다운로드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Ui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컴포넌트이다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7241942" y="6126485"/>
            <a:ext cx="714433" cy="32122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3779912" y="6467474"/>
            <a:ext cx="4752528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파일업르드에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필요한 컴포넌트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다른파일에서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복사해서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붙혀넣는다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79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47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6</a:t>
            </a:r>
            <a:r>
              <a:rPr kumimoji="0" lang="en-US" altLang="ko-KR" dirty="0" smtClean="0"/>
              <a:t>. </a:t>
            </a:r>
            <a:r>
              <a:rPr lang="ko-KR" altLang="en-US" dirty="0">
                <a:latin typeface="+mn-ea"/>
              </a:rPr>
              <a:t>파일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업로드</a:t>
            </a:r>
            <a:r>
              <a:rPr lang="en-US" altLang="ko-KR" dirty="0">
                <a:latin typeface="+mn-ea"/>
              </a:rPr>
              <a:t>_</a:t>
            </a:r>
            <a:r>
              <a:rPr lang="ko-KR" altLang="en-US" dirty="0">
                <a:latin typeface="+mn-ea"/>
              </a:rPr>
              <a:t>다운로드구현</a:t>
            </a:r>
            <a:endParaRPr kumimoji="0"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397126" y="563043"/>
            <a:ext cx="43172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1.editNotiBoardDetail : 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상세화면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73062" y="932375"/>
            <a:ext cx="8519417" cy="4296825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 변수 맨 상단에 복사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::jsCommFile.js";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#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include "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RfEnv_js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::jsCommFuncSub1.js";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P_FILE_LOAD_KEY;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var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P_FILE_LOAD_GRID_ID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onLoadComplete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 넣어준다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Div_sub_2.btn_save_file_board.Visible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파일저장버튼			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Div_sub_2.btn_fileOpenBoard.Enable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파일추가버튼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Div_sub_2.btn_del_file.Enable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false; //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파일삭제버튼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2-1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첨부파일 스크립트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문 위에 넣어준다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Div_sub_2.btn_down_file_board.Visible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false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2-2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첨부파일 스크립트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문 안에 넣어준다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Div_sub_2.btn_down_file_board.Visible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true;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05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dirty="0" smtClean="0">
                <a:latin typeface="+mn-ea"/>
              </a:rPr>
              <a:t>다국어 처리</a:t>
            </a:r>
            <a:r>
              <a:rPr lang="en-US" altLang="ko-KR" sz="3600" dirty="0">
                <a:latin typeface="+mn-ea"/>
              </a:rPr>
              <a:t/>
            </a:r>
            <a:br>
              <a:rPr lang="en-US" altLang="ko-KR" sz="3600" dirty="0">
                <a:latin typeface="+mn-ea"/>
              </a:rPr>
            </a:b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1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49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7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다국어 처리</a:t>
            </a: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1705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이미 모든 화면의 버튼 및 </a:t>
            </a:r>
            <a:r>
              <a:rPr kumimoji="0" lang="en-US" altLang="ko-KR" sz="1600" b="1" dirty="0" smtClean="0">
                <a:latin typeface="+mn-ea"/>
                <a:ea typeface="+mn-ea"/>
              </a:rPr>
              <a:t>Static , Grid</a:t>
            </a:r>
            <a:r>
              <a:rPr kumimoji="0" lang="ko-KR" altLang="en-US" sz="1600" b="1" dirty="0" smtClean="0">
                <a:latin typeface="+mn-ea"/>
                <a:ea typeface="+mn-ea"/>
              </a:rPr>
              <a:t>의 </a:t>
            </a:r>
            <a:r>
              <a:rPr kumimoji="0" lang="en-US" altLang="ko-KR" sz="1600" b="1" dirty="0" smtClean="0">
                <a:latin typeface="+mn-ea"/>
                <a:ea typeface="+mn-ea"/>
              </a:rPr>
              <a:t>Component</a:t>
            </a:r>
            <a:r>
              <a:rPr kumimoji="0" lang="ko-KR" altLang="en-US" sz="1600" b="1" dirty="0" smtClean="0">
                <a:latin typeface="+mn-ea"/>
                <a:ea typeface="+mn-ea"/>
              </a:rPr>
              <a:t>의 다국어 처리는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완료됏음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</a:p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다만 신규로 화면을 만들거나 기존화면에서 새로운 </a:t>
            </a:r>
            <a:r>
              <a:rPr kumimoji="0" lang="en-US" altLang="ko-KR" sz="1600" b="1" dirty="0" smtClean="0">
                <a:latin typeface="+mn-ea"/>
                <a:ea typeface="+mn-ea"/>
              </a:rPr>
              <a:t>Component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추가하거나 수정사항이 발생시 새롭게 다국어 등록이 필요하다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665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50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7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다국어 처리</a:t>
            </a: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00"/>
              </a:spcBef>
              <a:buAutoNum type="arabicPeriod"/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기존화면의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수정및</a:t>
            </a:r>
            <a:r>
              <a:rPr kumimoji="0" lang="ko-KR" altLang="en-US" sz="1600" b="1" dirty="0" smtClean="0">
                <a:latin typeface="+mn-ea"/>
                <a:ea typeface="+mn-ea"/>
              </a:rPr>
              <a:t> 추가로 인해 새롭게 다국어 등록이 필요한 경우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1052737"/>
            <a:ext cx="8316416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 bwMode="auto">
          <a:xfrm>
            <a:off x="539552" y="1611466"/>
            <a:ext cx="3024336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2165310" y="1211581"/>
            <a:ext cx="2797156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다국어 처리가 필요한 화면을 선택한다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403225" y="2244422"/>
            <a:ext cx="1144439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2" name="직사각형 11"/>
          <p:cNvSpPr/>
          <p:nvPr/>
        </p:nvSpPr>
        <p:spPr>
          <a:xfrm>
            <a:off x="-1044624" y="2460446"/>
            <a:ext cx="1656184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해당화면의 화면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1547664" y="2244422"/>
            <a:ext cx="1296144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4" name="직사각형 13"/>
          <p:cNvSpPr/>
          <p:nvPr/>
        </p:nvSpPr>
        <p:spPr>
          <a:xfrm>
            <a:off x="1193182" y="2642400"/>
            <a:ext cx="20029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해당화면의 컴포넌</a:t>
            </a:r>
            <a:r>
              <a:rPr lang="ko-KR" altLang="en-US" sz="1200" b="1">
                <a:solidFill>
                  <a:schemeClr val="tx1">
                    <a:lumMod val="75000"/>
                    <a:lumOff val="25000"/>
                  </a:schemeClr>
                </a:solidFill>
              </a:rPr>
              <a:t>트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2843808" y="2244422"/>
            <a:ext cx="3384376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6" name="직사각형 15"/>
          <p:cNvSpPr/>
          <p:nvPr/>
        </p:nvSpPr>
        <p:spPr>
          <a:xfrm>
            <a:off x="3593244" y="2676470"/>
            <a:ext cx="20029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해당컴포넌트의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한글명이다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228184" y="2244422"/>
            <a:ext cx="1692188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8" name="직사각형 17"/>
          <p:cNvSpPr/>
          <p:nvPr/>
        </p:nvSpPr>
        <p:spPr>
          <a:xfrm>
            <a:off x="6228184" y="2676470"/>
            <a:ext cx="2002967" cy="40181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해당컴포넌트의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영문명이다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50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51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7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다국어 처리</a:t>
            </a: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2. </a:t>
            </a:r>
            <a:r>
              <a:rPr kumimoji="0" lang="ko-KR" altLang="en-US" sz="1600" b="1" dirty="0" smtClean="0">
                <a:latin typeface="+mn-ea"/>
                <a:ea typeface="+mn-ea"/>
              </a:rPr>
              <a:t>신규로 화면을 등록했을 경우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일괄로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처리할수</a:t>
            </a:r>
            <a:r>
              <a:rPr kumimoji="0" lang="ko-KR" altLang="en-US" sz="1600" b="1" dirty="0" smtClean="0">
                <a:latin typeface="+mn-ea"/>
                <a:ea typeface="+mn-ea"/>
              </a:rPr>
              <a:t> 있게 </a:t>
            </a:r>
            <a:r>
              <a:rPr kumimoji="0" lang="en-US" altLang="ko-KR" sz="1600" b="1" dirty="0" smtClean="0">
                <a:latin typeface="+mn-ea"/>
                <a:ea typeface="+mn-ea"/>
              </a:rPr>
              <a:t>Script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만들었음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542" y="1268760"/>
            <a:ext cx="7632848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/>
          <p:cNvSpPr/>
          <p:nvPr/>
        </p:nvSpPr>
        <p:spPr bwMode="auto">
          <a:xfrm>
            <a:off x="3057451" y="1484784"/>
            <a:ext cx="1802581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20" name="직사각형 19"/>
          <p:cNvSpPr/>
          <p:nvPr/>
        </p:nvSpPr>
        <p:spPr>
          <a:xfrm>
            <a:off x="3635896" y="1825641"/>
            <a:ext cx="3024336" cy="1315328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툴을 통해서 이 버튼을 활성화 시킨다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평소에는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visible = false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세팅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42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52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7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다국어 처리</a:t>
            </a: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2. </a:t>
            </a:r>
            <a:r>
              <a:rPr kumimoji="0" lang="ko-KR" altLang="en-US" sz="1600" b="1" dirty="0" smtClean="0">
                <a:latin typeface="+mn-ea"/>
                <a:ea typeface="+mn-ea"/>
              </a:rPr>
              <a:t>신규로 화면을 등록했을 경우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일괄로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처리할수</a:t>
            </a:r>
            <a:r>
              <a:rPr kumimoji="0" lang="ko-KR" altLang="en-US" sz="1600" b="1" dirty="0" smtClean="0">
                <a:latin typeface="+mn-ea"/>
                <a:ea typeface="+mn-ea"/>
              </a:rPr>
              <a:t> 있게 </a:t>
            </a:r>
            <a:r>
              <a:rPr kumimoji="0" lang="en-US" altLang="ko-KR" sz="1600" b="1" dirty="0" smtClean="0">
                <a:latin typeface="+mn-ea"/>
                <a:ea typeface="+mn-ea"/>
              </a:rPr>
              <a:t>Script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만들었음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89" y="1412776"/>
            <a:ext cx="838842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 bwMode="auto">
          <a:xfrm>
            <a:off x="3033479" y="1412776"/>
            <a:ext cx="1154509" cy="43204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3275856" y="1794164"/>
            <a:ext cx="3240360" cy="91475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전용툴로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f5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클릭하고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전용툴로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실행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다국어 처리를 하고자 하는 화면을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진입한후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다국어처리 버튼을 클릭한다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18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53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7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다국어 처리</a:t>
            </a:r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2. </a:t>
            </a:r>
            <a:r>
              <a:rPr kumimoji="0" lang="ko-KR" altLang="en-US" sz="1600" b="1" dirty="0" smtClean="0">
                <a:latin typeface="+mn-ea"/>
                <a:ea typeface="+mn-ea"/>
              </a:rPr>
              <a:t>신규로 화면을 등록했을 경우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일괄로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처리할수</a:t>
            </a:r>
            <a:r>
              <a:rPr kumimoji="0" lang="ko-KR" altLang="en-US" sz="1600" b="1" dirty="0" smtClean="0">
                <a:latin typeface="+mn-ea"/>
                <a:ea typeface="+mn-ea"/>
              </a:rPr>
              <a:t> 있게 </a:t>
            </a:r>
            <a:r>
              <a:rPr kumimoji="0" lang="en-US" altLang="ko-KR" sz="1600" b="1" dirty="0" smtClean="0">
                <a:latin typeface="+mn-ea"/>
                <a:ea typeface="+mn-ea"/>
              </a:rPr>
              <a:t>Script</a:t>
            </a:r>
            <a:r>
              <a:rPr kumimoji="0" lang="ko-KR" altLang="en-US" sz="1600" b="1" dirty="0" smtClean="0">
                <a:latin typeface="+mn-ea"/>
                <a:ea typeface="+mn-ea"/>
              </a:rPr>
              <a:t>를 만들었음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79512" y="3673116"/>
            <a:ext cx="7022892" cy="914756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PID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의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Output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창을 보면 해당 화면의 모든 컴포넌트가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DB Insert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문으로 만들어진다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를 시키고 영문은 아까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50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번슬라이드의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화면에서 수동으로 직접 입력한다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8289"/>
            <a:ext cx="12715876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898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0"/>
          <p:cNvSpPr>
            <a:spLocks noGrp="1"/>
          </p:cNvSpPr>
          <p:nvPr>
            <p:ph type="title" idx="4294967295"/>
          </p:nvPr>
        </p:nvSpPr>
        <p:spPr>
          <a:xfrm>
            <a:off x="207963" y="2781300"/>
            <a:ext cx="8936037" cy="969963"/>
          </a:xfrm>
        </p:spPr>
        <p:txBody>
          <a:bodyPr/>
          <a:lstStyle/>
          <a:p>
            <a:pPr algn="ctr"/>
            <a:r>
              <a:rPr lang="ko-KR" altLang="en-US" sz="3600" dirty="0" smtClean="0">
                <a:latin typeface="+mn-ea"/>
              </a:rPr>
              <a:t>기타</a:t>
            </a:r>
            <a:r>
              <a:rPr lang="en-US" altLang="ko-KR" sz="3600" dirty="0">
                <a:latin typeface="+mn-ea"/>
              </a:rPr>
              <a:t/>
            </a:r>
            <a:br>
              <a:rPr lang="en-US" altLang="ko-KR" sz="3600" dirty="0">
                <a:latin typeface="+mn-ea"/>
              </a:rPr>
            </a:br>
            <a:r>
              <a:rPr lang="en-US" altLang="ko-KR" sz="3600" b="1" dirty="0" smtClean="0"/>
              <a:t/>
            </a:r>
            <a:br>
              <a:rPr lang="en-US" altLang="ko-KR" sz="3600" b="1" dirty="0" smtClean="0"/>
            </a:b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332656"/>
            <a:ext cx="91440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85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55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8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기</a:t>
            </a:r>
            <a:r>
              <a:rPr kumimoji="0" lang="ko-KR" altLang="en-US" dirty="0"/>
              <a:t>타</a:t>
            </a:r>
            <a:endParaRPr kumimoji="0" lang="ko-KR" altLang="en-US" dirty="0" smtClean="0"/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1. </a:t>
            </a:r>
            <a:r>
              <a:rPr kumimoji="0" lang="ko-KR" altLang="en-US" sz="1600" b="1" dirty="0" smtClean="0">
                <a:latin typeface="+mn-ea"/>
                <a:ea typeface="+mn-ea"/>
              </a:rPr>
              <a:t>로그인 비밀번호 풀기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908720"/>
            <a:ext cx="7439025" cy="5657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 bwMode="auto">
          <a:xfrm>
            <a:off x="572244" y="5852764"/>
            <a:ext cx="3639715" cy="576064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3131840" y="5085184"/>
            <a:ext cx="5760640" cy="76758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이클립스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상에서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user.xml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파일을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찾은후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id =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viewUser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의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query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에서 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하단의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표시한부분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주석을 풀면 로그인시 비밀번호를 반드시 입력해야 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39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49" y="978548"/>
            <a:ext cx="8397064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56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8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기</a:t>
            </a:r>
            <a:r>
              <a:rPr kumimoji="0" lang="ko-KR" altLang="en-US" dirty="0"/>
              <a:t>타</a:t>
            </a:r>
            <a:endParaRPr kumimoji="0" lang="ko-KR" altLang="en-US" dirty="0" smtClean="0"/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>
                <a:latin typeface="+mn-ea"/>
                <a:ea typeface="+mn-ea"/>
              </a:rPr>
              <a:t>2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smtClean="0">
                <a:latin typeface="+mn-ea"/>
                <a:ea typeface="+mn-ea"/>
              </a:rPr>
              <a:t>로그인 </a:t>
            </a:r>
            <a:r>
              <a:rPr kumimoji="0" lang="ko-KR" altLang="en-US" sz="1600" b="1" dirty="0" smtClean="0">
                <a:latin typeface="+mn-ea"/>
                <a:ea typeface="+mn-ea"/>
              </a:rPr>
              <a:t>횟수 제한 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현재는 비밀번호</a:t>
            </a:r>
            <a:r>
              <a:rPr kumimoji="0" lang="en-US" altLang="ko-KR" sz="1600" b="1" dirty="0" smtClean="0">
                <a:latin typeface="+mn-ea"/>
                <a:ea typeface="+mn-ea"/>
              </a:rPr>
              <a:t>5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번틀리면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로그인불가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619673" y="3717032"/>
            <a:ext cx="2520280" cy="576064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3995936" y="3190320"/>
            <a:ext cx="4740077" cy="76758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SecurityService.java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이부분의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숫자부분을 조절하면 </a:t>
            </a:r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횟수 제한을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조절할수있다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86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57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8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기</a:t>
            </a:r>
            <a:r>
              <a:rPr kumimoji="0" lang="ko-KR" altLang="en-US" dirty="0"/>
              <a:t>타</a:t>
            </a:r>
            <a:endParaRPr kumimoji="0" lang="ko-KR" altLang="en-US" dirty="0" smtClean="0"/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199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>
                <a:latin typeface="+mn-ea"/>
                <a:ea typeface="+mn-ea"/>
              </a:rPr>
              <a:t>2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smtClean="0">
                <a:latin typeface="+mn-ea"/>
                <a:ea typeface="+mn-ea"/>
              </a:rPr>
              <a:t>로그인 </a:t>
            </a:r>
            <a:r>
              <a:rPr kumimoji="0" lang="ko-KR" altLang="en-US" sz="1600" b="1" dirty="0" smtClean="0">
                <a:latin typeface="+mn-ea"/>
                <a:ea typeface="+mn-ea"/>
              </a:rPr>
              <a:t>횟수 제한 </a:t>
            </a:r>
            <a:r>
              <a:rPr kumimoji="0" lang="en-US" altLang="ko-KR" sz="1600" b="1" dirty="0" smtClean="0">
                <a:latin typeface="+mn-ea"/>
                <a:ea typeface="+mn-ea"/>
              </a:rPr>
              <a:t>(</a:t>
            </a:r>
            <a:r>
              <a:rPr kumimoji="0" lang="ko-KR" altLang="en-US" sz="1600" b="1" dirty="0" smtClean="0">
                <a:latin typeface="+mn-ea"/>
                <a:ea typeface="+mn-ea"/>
              </a:rPr>
              <a:t>현재는 비밀번호</a:t>
            </a:r>
            <a:r>
              <a:rPr kumimoji="0" lang="en-US" altLang="ko-KR" sz="1600" b="1" dirty="0" smtClean="0">
                <a:latin typeface="+mn-ea"/>
                <a:ea typeface="+mn-ea"/>
              </a:rPr>
              <a:t>5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번틀리면</a:t>
            </a: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로그인불가</a:t>
            </a:r>
            <a:r>
              <a:rPr kumimoji="0" lang="en-US" altLang="ko-KR" sz="1600" b="1" dirty="0" smtClean="0">
                <a:latin typeface="+mn-ea"/>
                <a:ea typeface="+mn-ea"/>
              </a:rPr>
              <a:t>)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횟수제한에 따른 메시지 처리방법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 smtClean="0">
                <a:latin typeface="+mn-ea"/>
                <a:ea typeface="+mn-ea"/>
              </a:rPr>
              <a:t> </a:t>
            </a:r>
            <a:r>
              <a:rPr kumimoji="0" lang="ko-KR" altLang="en-US" sz="1600" b="1" dirty="0" smtClean="0">
                <a:latin typeface="+mn-ea"/>
                <a:ea typeface="+mn-ea"/>
              </a:rPr>
              <a:t>현재는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 </a:t>
            </a:r>
            <a:r>
              <a:rPr kumimoji="0" lang="en-US" altLang="ko-KR" sz="1600" b="1" dirty="0" smtClean="0">
                <a:latin typeface="+mn-ea"/>
                <a:ea typeface="+mn-ea"/>
              </a:rPr>
              <a:t>“</a:t>
            </a:r>
            <a:r>
              <a:rPr lang="ko-KR" altLang="en-US" sz="1600" dirty="0"/>
              <a:t>비밀번호를 연속적으로 </a:t>
            </a:r>
            <a:r>
              <a:rPr lang="en-US" altLang="ko-KR" sz="1600" dirty="0"/>
              <a:t>5</a:t>
            </a:r>
            <a:r>
              <a:rPr lang="ko-KR" altLang="en-US" sz="1600" dirty="0"/>
              <a:t>회 </a:t>
            </a:r>
            <a:r>
              <a:rPr lang="ko-KR" altLang="en-US" sz="1600" dirty="0" err="1"/>
              <a:t>잘못입력하신</a:t>
            </a:r>
            <a:r>
              <a:rPr lang="ko-KR" altLang="en-US" sz="1600" dirty="0"/>
              <a:t> 사유로 시스템을 </a:t>
            </a:r>
            <a:r>
              <a:rPr lang="ko-KR" altLang="en-US" sz="1600" dirty="0" err="1"/>
              <a:t>사용할수</a:t>
            </a:r>
            <a:r>
              <a:rPr lang="ko-KR" altLang="en-US" sz="1600" dirty="0"/>
              <a:t> 없게 되었습니다</a:t>
            </a:r>
            <a:r>
              <a:rPr lang="en-US" altLang="ko-KR" sz="1600" dirty="0" smtClean="0"/>
              <a:t>.</a:t>
            </a:r>
            <a:r>
              <a:rPr kumimoji="0" lang="en-US" altLang="ko-KR" sz="1600" b="1" dirty="0" smtClean="0">
                <a:latin typeface="+mn-ea"/>
                <a:ea typeface="+mn-ea"/>
              </a:rPr>
              <a:t>“</a:t>
            </a:r>
          </a:p>
          <a:p>
            <a:pPr eaLnBrk="0" hangingPunct="0">
              <a:spcBef>
                <a:spcPts val="600"/>
              </a:spcBef>
              <a:defRPr/>
            </a:pPr>
            <a:r>
              <a:rPr kumimoji="0" lang="ko-KR" altLang="en-US" sz="1600" b="1" dirty="0" smtClean="0">
                <a:latin typeface="+mn-ea"/>
                <a:ea typeface="+mn-ea"/>
              </a:rPr>
              <a:t>바고 메시지를 처리하고 있는데 횟수제한이 바뀌면 메시지내용도 </a:t>
            </a:r>
            <a:r>
              <a:rPr kumimoji="0" lang="ko-KR" altLang="en-US" sz="1600" b="1" dirty="0" err="1" smtClean="0">
                <a:latin typeface="+mn-ea"/>
                <a:ea typeface="+mn-ea"/>
              </a:rPr>
              <a:t>바뀌어야한다</a:t>
            </a:r>
            <a:r>
              <a:rPr kumimoji="0" lang="en-US" altLang="ko-KR" sz="1600" b="1" dirty="0" smtClean="0">
                <a:latin typeface="+mn-ea"/>
                <a:ea typeface="+mn-ea"/>
              </a:rPr>
              <a:t>.</a:t>
            </a:r>
            <a:endParaRPr kumimoji="0" lang="en-US" altLang="ko-KR" sz="1600" b="1" dirty="0" smtClean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2348880"/>
            <a:ext cx="12233671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1"/>
          <p:cNvSpPr/>
          <p:nvPr/>
        </p:nvSpPr>
        <p:spPr bwMode="auto">
          <a:xfrm>
            <a:off x="675152" y="5108934"/>
            <a:ext cx="11961744" cy="216024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3" name="직사각형 12"/>
          <p:cNvSpPr/>
          <p:nvPr/>
        </p:nvSpPr>
        <p:spPr>
          <a:xfrm>
            <a:off x="403225" y="5324958"/>
            <a:ext cx="5464919" cy="76758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resources_ko.property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파일의 </a:t>
            </a:r>
            <a:r>
              <a:rPr lang="ko-KR" alt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이부분에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한글로 메시지를 작성하면 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75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74" y="1052736"/>
            <a:ext cx="74961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58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8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기</a:t>
            </a:r>
            <a:r>
              <a:rPr kumimoji="0" lang="ko-KR" altLang="en-US" dirty="0"/>
              <a:t>타</a:t>
            </a:r>
            <a:endParaRPr kumimoji="0" lang="ko-KR" altLang="en-US" dirty="0" smtClean="0"/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>
                <a:latin typeface="+mn-ea"/>
                <a:ea typeface="+mn-ea"/>
              </a:rPr>
              <a:t>3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smtClean="0">
                <a:latin typeface="+mn-ea"/>
                <a:ea typeface="+mn-ea"/>
              </a:rPr>
              <a:t>세션설정변경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941336" y="4892909"/>
            <a:ext cx="3639715" cy="703251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3923928" y="4476954"/>
            <a:ext cx="5760640" cy="767580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Web.xml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파일의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session-timeout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시간을 조절한다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(1=1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분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39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42" y="908720"/>
            <a:ext cx="8352928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ED65097D-619D-4398-B385-451320270C07}" type="slidenum">
              <a:rPr lang="ko-KR" altLang="en-US" smtClean="0"/>
              <a:pPr>
                <a:defRPr/>
              </a:pPr>
              <a:t>59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 bwMode="auto">
          <a:xfrm>
            <a:off x="403225" y="192191"/>
            <a:ext cx="8332788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1400" b="1" kern="12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en-US" altLang="ko-KR" dirty="0"/>
              <a:t>8</a:t>
            </a:r>
            <a:r>
              <a:rPr kumimoji="0" lang="en-US" altLang="ko-KR" dirty="0" smtClean="0"/>
              <a:t>. </a:t>
            </a:r>
            <a:r>
              <a:rPr kumimoji="0" lang="ko-KR" altLang="en-US" dirty="0" smtClean="0"/>
              <a:t>기</a:t>
            </a:r>
            <a:r>
              <a:rPr kumimoji="0" lang="ko-KR" altLang="en-US" dirty="0"/>
              <a:t>타</a:t>
            </a:r>
            <a:endParaRPr kumimoji="0" lang="ko-KR" altLang="en-US" dirty="0" smtClean="0"/>
          </a:p>
        </p:txBody>
      </p:sp>
      <p:sp>
        <p:nvSpPr>
          <p:cNvPr id="8" name="Rectangle 187"/>
          <p:cNvSpPr txBox="1">
            <a:spLocks noChangeArrowheads="1"/>
          </p:cNvSpPr>
          <p:nvPr/>
        </p:nvSpPr>
        <p:spPr bwMode="auto">
          <a:xfrm>
            <a:off x="373063" y="571500"/>
            <a:ext cx="8375650" cy="481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ts val="600"/>
              </a:spcBef>
              <a:defRPr/>
            </a:pPr>
            <a:r>
              <a:rPr kumimoji="0" lang="en-US" altLang="ko-KR" sz="1600" b="1" dirty="0">
                <a:latin typeface="+mn-ea"/>
                <a:ea typeface="+mn-ea"/>
              </a:rPr>
              <a:t>3</a:t>
            </a:r>
            <a:r>
              <a:rPr kumimoji="0" lang="en-US" altLang="ko-KR" sz="1600" b="1" dirty="0" smtClean="0">
                <a:latin typeface="+mn-ea"/>
                <a:ea typeface="+mn-ea"/>
              </a:rPr>
              <a:t>. </a:t>
            </a:r>
            <a:r>
              <a:rPr kumimoji="0" lang="ko-KR" altLang="en-US" sz="1600" b="1" dirty="0" smtClean="0">
                <a:latin typeface="+mn-ea"/>
                <a:ea typeface="+mn-ea"/>
              </a:rPr>
              <a:t>세션설정변경</a:t>
            </a:r>
            <a:endParaRPr kumimoji="0" lang="en-US" altLang="ko-KR" sz="1600" b="1" dirty="0">
              <a:latin typeface="+mn-ea"/>
              <a:ea typeface="+mn-ea"/>
            </a:endParaRPr>
          </a:p>
          <a:p>
            <a:pPr eaLnBrk="0" hangingPunct="0">
              <a:spcBef>
                <a:spcPts val="600"/>
              </a:spcBef>
              <a:defRPr/>
            </a:pPr>
            <a:endParaRPr kumimoji="0" lang="en-US" altLang="ko-KR" sz="1600" b="1" dirty="0">
              <a:latin typeface="+mn-ea"/>
              <a:ea typeface="+mn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065404" y="4453160"/>
            <a:ext cx="3639715" cy="703251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 wrap="none" lIns="90000" tIns="46800" rIns="90000" bIns="46800" rtlCol="0" anchor="ctr"/>
          <a:lstStyle/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en-US" altLang="ko-KR" sz="1050" dirty="0" smtClean="0"/>
          </a:p>
          <a:p>
            <a:pPr algn="r" eaLnBrk="0" fontAlgn="ctr" latinLnBrk="0" hangingPunct="0">
              <a:lnSpc>
                <a:spcPct val="80000"/>
              </a:lnSpc>
            </a:pPr>
            <a:endParaRPr kumimoji="0" lang="ko-KR" altLang="en-US" sz="105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4139952" y="3933055"/>
            <a:ext cx="7704856" cy="871729"/>
          </a:xfrm>
          <a:prstGeom prst="rect">
            <a:avLst/>
          </a:prstGeom>
          <a:pattFill prst="pct10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EnvMenuTop.xml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파일의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setTi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mer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()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로 </a:t>
            </a:r>
            <a:r>
              <a:rPr lang="en-US" altLang="ko-KR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dummyTransation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을 날리고 있어서 세션이 끊어지지 않는다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(1000 = 1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초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altLang="ko-KR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2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33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pct10">
          <a:fgClr>
            <a:schemeClr val="bg1">
              <a:lumMod val="85000"/>
            </a:schemeClr>
          </a:fgClr>
          <a:bgClr>
            <a:schemeClr val="bg1"/>
          </a:bgClr>
        </a:pattFill>
        <a:ln>
          <a:solidFill>
            <a:schemeClr val="tx1">
              <a:lumMod val="75000"/>
              <a:lumOff val="2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non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b="1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5742</TotalTime>
  <Words>2025</Words>
  <Application>Microsoft Office PowerPoint</Application>
  <PresentationFormat>화면 슬라이드 쇼(4:3)</PresentationFormat>
  <Paragraphs>706</Paragraphs>
  <Slides>60</Slides>
  <Notes>50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1" baseType="lpstr">
      <vt:lpstr>Office 테마</vt:lpstr>
      <vt:lpstr>PowerPoint 프레젠테이션</vt:lpstr>
      <vt:lpstr>개정 이력</vt:lpstr>
      <vt:lpstr>목차</vt:lpstr>
      <vt:lpstr>환경세팅 </vt:lpstr>
      <vt:lpstr>Ⅰ.  환경세팅</vt:lpstr>
      <vt:lpstr>Ⅰ.  환경세팅</vt:lpstr>
      <vt:lpstr>Ⅰ.  환경세팅</vt:lpstr>
      <vt:lpstr>Miplatform 개발  </vt:lpstr>
      <vt:lpstr>Ⅱ. Miplatform 개발</vt:lpstr>
      <vt:lpstr>Ⅱ. Miplatform 개발</vt:lpstr>
      <vt:lpstr>Ⅱ. Miplatform 개발</vt:lpstr>
      <vt:lpstr>Ⅱ. Miplatform 개발</vt:lpstr>
      <vt:lpstr>Ⅱ. Miplatform 개발</vt:lpstr>
      <vt:lpstr>Ⅱ. Miplatform 개발</vt:lpstr>
      <vt:lpstr>Ⅱ. Miplatform 개발</vt:lpstr>
      <vt:lpstr> 서버(bussiness) 개발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권한관리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게시판 만들기 </vt:lpstr>
      <vt:lpstr>PowerPoint 프레젠테이션</vt:lpstr>
      <vt:lpstr>5. 게시판만들기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파일_업로드_다운로드구현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다국어 처리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기타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sungman</cp:lastModifiedBy>
  <cp:revision>516</cp:revision>
  <dcterms:created xsi:type="dcterms:W3CDTF">2011-01-04T12:32:05Z</dcterms:created>
  <dcterms:modified xsi:type="dcterms:W3CDTF">2014-09-29T02:54:57Z</dcterms:modified>
</cp:coreProperties>
</file>